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、社会部Gmailの使い方が変わるお知らせです。これまで全員で共有していた共通パスワードをやめて、自分の会社Googleアカウントから社会部のメールを使う「代理アクセス」という方式に変わります。仕組みは難しくありません。今日はこの1点だけ持ち帰ってもらえれば十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れまでは、社会部Gmailに1つの共通パスワードがあり、部長から記者まで全員が同じログイン情報を使っていました。これ自体は長年の運用ですが、誰かがパスワードを変えると全員に影響しますし、異動のたびに管理が必要になります。危険だから今すぐ変えるという話ではなく、人数が増えるほど鍵の管理が大変になるという、単純だけれど大事な問題だと理解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今日一番大事なスライドです。「代理アクセス」という言葉だけ聞くと難しそうですが、意味は単純です。自分の会社Googleアカウントで、社会部のメールボックスを開けるようになる、というだけです。記者A、B、Cのように、それぞれ自分のアカウントから入っても、開く先は同じ社会部Gmailです。そして一番大事なのは、社会部Gmailの共通パスワードを、もう覚えなくていい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イメージしやすいように、社員証で例えてみます。これまでは、社会部のメール室に入るための合鍵を全員がコピーして持っているようなものでした。これからは、それぞれが自分の社員証をかざすと、社会部メール室にだけ入れる権限が追加される、というイメージです。実際にはGoogleアカウントの利用権限の話で、物理的な社員証があるわけではありませんが、考え方としてはこれで十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代理アクセスでできることを、1つずつ見ていきます。読者や取材先からのメールを読んで検索する、社会部として返信する、新しくメールを送る、不要なメールを削除したり整理したりする。これらは、ふだん自分のGmailで行っている作業とまったく同じ感覚で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方で、できないこともあります。社会部アカウントのパスワード変更、2段階認証などGoogleアカウント全体の設定変更、そしてGmail以外のサービスへの自動的なアクセスです。これらはいずれも、アカウント本体の安全を守るための仕組みで、代理人には触れさせない範囲だと考えてください。つまり、メール業務はできるけれど、アカウントそのものの管理者にはならない、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は、実際の画面のイメージを見ながら、3つの場面を順番に説明します。1つ目は設定編で、管理担当が社会部Gmail側で利用者を登録する作業です。2つ目は承認編で、招待された記者がメールを確認して承認する作業です。3つ目は毎日の使い方編で、実際に自分のアカウントから社会部Gmailを開く操作です。それぞれ、誰がやる作業なのかを意識しながら見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設定編の1つ目です。管理担当が、社会部Gmailに自分でログインした状態で、画面右上にある歯車マークを押します。これが設定画面への入り口です。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設定画面が開いたら、上に並んでいるタブの中から「アカウントとインポート」を選びます。ここに、メールへのアクセス権を管理する項目があります。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別のアカウントを追加」を押すと、メールアドレスを入力する欄が出てきます。追加したい記者のメールアドレスを入力して、「次のステップへ」を押すと、相手に招待メールが送られます。この操作は管理担当だけが行うもので、一般部員が自分で行う必要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管理担当が登録を済ませると、招待された記者自身の受信箱に、社会部からの招待メールが届きます。件名には「メールの委任」に関する案内が入っています。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届いたメールを開いたら、まず送信元が社会部の管理担当（社会部Gmailのアドレス）であることを確認してください。見覚えのない相手からの場合は、絶対に先へ進まず、社会部の管理担当に確認しましょう。内容を確認したら、「アクセスを確認」ボタン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最後に確認ダイアログが出るので、内容に間違いなければ「確認」を押します。これで承認は完了です。承認してすぐに使えないこともあるので、少し時間を置いてから次の使い方編を試してみてください。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毎日の使い方編です。まずはいつも通り、自分の会社Googleアカウントで自分のGmailを開きます。特別な操作は何もありません。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画面右上にある、丸いプロフィール画像を押します。ここがアカウントを切り替える入り口になります。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フィール画像を押すと、切り替えられるアカウントの一覧が出てきます。この中から「社会部Gmail」を選びます。承認前はこの項目自体が出てこないので、その場合は招待の承認ができているかを確認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社会部Gmailを選ぶと、新しいタブで社会部の受信箱が開きます。ここから先は、普段自分のGmailを使うのとまったく同じ感覚で、メールを読んだり返信したりできます。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設定編・承認編・使い方編の3つを振り返ると、どの場面でも社会部共通パスワードを入力する場面がなかったことが分かります。これが代理アクセスの一番のポイントです。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代理アクセスに変えると、人事異動のときが特に楽になります。これまでは、異動のたびにパスワードを変更し、残る全員に新しいパスワードを連絡し、それぞれの端末で再設定してもらう必要がありました。これからは、異動した人の利用権限を削除して、新しく来た人を追加するだけです。パスワードを管理するのではなく、人を管理するという発想の変化だと考えてください。管理担当向けの補足ですが、社内の設定次第では、Googleグループを使ってさらにまとめて管理できる場合も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最後に誤解しやすい点を確認します。代理アクセスは、あくまでGmail、つまりメールのための仕組みです。社会部のGoogle DriveやGoogle Calendarは、これとは別に、共有ドライブや共有カレンダーという仕組みを使います。「代理アクセスを設定すれば社会部アカウントの全部のサービスに入れる」というのは誤解なので、ここははっきり伝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覚えていただきたいのは、この3つだけです。1つ、社会部共通パスワードを全員で共有しない。2つ、自分の会社Googleアカウントから社会部Gmailを開く。3つ、異動のときはパスワードではなく利用権限を変更する。これが「Gmail代理アクセス」です。うまく表示されない、設定が見当たらないといった場合は、社会部管理担当か情報システム担当に確認してください。以上で説明を終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よくある質問をまとめています。スマートフォンでの利用、送信者表示、社会部Gmailが表示されないときの対処、Driveが使えるかどうか、登録できる人数、Googleグループの活用といった質問です。時間があればこのページも紹介し、なければ「巻末に質問集をまとめているので、あとで見てください」と案内する程度で十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2103120"/>
            <a:ext cx="4754880" cy="4754880"/>
          </a:xfrm>
          <a:prstGeom prst="ellipse">
            <a:avLst/>
          </a:prstGeom>
          <a:ln w="15875">
            <a:solidFill>
              <a:srgbClr val="2A456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1005840"/>
            <a:ext cx="3108960" cy="3108960"/>
          </a:xfrm>
          <a:prstGeom prst="ellipse">
            <a:avLst/>
          </a:prstGeom>
          <a:ln w="15875">
            <a:solidFill>
              <a:srgbClr val="3550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9CC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社会部内 説明会資料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社会部Gmailの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使い方が変わります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E7F5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共通パスワードから「代理アクセス」へ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7680960" cy="685800"/>
          </a:xfrm>
          <a:prstGeom prst="roundRect">
            <a:avLst>
              <a:gd name="adj" fmla="val 10667"/>
            </a:avLst>
          </a:prstGeom>
          <a:solidFill>
            <a:srgbClr val="223A5E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88620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自分の会社Googleアカウントから、社会部のメールを利用する仕組みです。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6863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94B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確認日：2026年8月7日（出典：Gmail／Google Workspace 公式ヘルプ）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01｜これまでの方式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これまでは「1本の鍵を全員で共有」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34640" y="1417320"/>
            <a:ext cx="3474720" cy="502920"/>
          </a:xfrm>
          <a:prstGeom prst="roundRect">
            <a:avLst>
              <a:gd name="adj" fmla="val 14545"/>
            </a:avLst>
          </a:prstGeom>
          <a:solidFill>
            <a:srgbClr val="1C2E4A"/>
          </a:solidFill>
          <a:ln/>
          <a:effectLst>
            <a:outerShdw sx="100000" sy="100000" kx="0" ky="0" algn="bl" rotWithShape="0" blurRad="88900" dist="31750" dir="5400000">
              <a:srgbClr val="132038">
                <a:alpha val="2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83464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社会部Gmail（共通パスワード）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0" y="1920240"/>
            <a:ext cx="0" cy="256032"/>
          </a:xfrm>
          <a:prstGeom prst="line">
            <a:avLst/>
          </a:prstGeom>
          <a:noFill/>
          <a:ln w="25400">
            <a:solidFill>
              <a:srgbClr val="B9CCE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13816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44450" dist="19050" dir="5400000">
              <a:srgbClr val="132038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13816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部長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50008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44450" dist="19050" dir="5400000">
              <a:srgbClr val="132038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350008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次席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86200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44450" dist="19050" dir="5400000">
              <a:srgbClr val="132038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886200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22392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44450" dist="19050" dir="5400000">
              <a:srgbClr val="132038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22392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58584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44450" dist="19050" dir="5400000">
              <a:srgbClr val="132038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58584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28529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全員が同じ「メールアドレス＋パスワード」でログインしています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337560"/>
            <a:ext cx="118872" cy="118872"/>
          </a:xfrm>
          <a:prstGeom prst="ellipse">
            <a:avLst/>
          </a:prstGeom>
          <a:solidFill>
            <a:srgbClr val="A6480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46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誰かがパスワードを変更すると、全員に影響する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639312"/>
            <a:ext cx="118872" cy="118872"/>
          </a:xfrm>
          <a:prstGeom prst="ellipse">
            <a:avLst/>
          </a:prstGeom>
          <a:solidFill>
            <a:srgbClr val="A6480E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54787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異動のたびに、パスワードの管理が必要になる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941064"/>
            <a:ext cx="118872" cy="118872"/>
          </a:xfrm>
          <a:prstGeom prst="ellipse">
            <a:avLst/>
          </a:prstGeom>
          <a:solidFill>
            <a:srgbClr val="A6480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384962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全員が同じログイン情報を使い続けることになる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242816"/>
            <a:ext cx="118872" cy="118872"/>
          </a:xfrm>
          <a:prstGeom prst="ellipse">
            <a:avLst/>
          </a:prstGeom>
          <a:solidFill>
            <a:srgbClr val="A6480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415137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本人確認や、パスワードを忘れたときの対応も複雑になる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怖い話ではありません。「人数が増えるほど、鍵の管理が大変になる」という単純な問題です。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02｜代理アクセスとは？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自分のアカウントで、</a:t>
            </a:r>
            <a:endParaRPr lang="en-US" sz="2700" dirty="0"/>
          </a:p>
          <a:p>
            <a:pPr algn="l" indent="0" marL="0">
              <a:buNone/>
            </a:pPr>
            <a:r>
              <a:rPr lang="en-US" sz="27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社会部の受信箱を開く仕組み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701491" cy="566928"/>
          </a:xfrm>
          <a:prstGeom prst="roundRect">
            <a:avLst>
              <a:gd name="adj" fmla="val 12903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65960"/>
            <a:ext cx="35186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記者Aの会社アカウント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0131" y="2249424"/>
            <a:ext cx="320040" cy="0"/>
          </a:xfrm>
          <a:prstGeom prst="line">
            <a:avLst/>
          </a:prstGeom>
          <a:noFill/>
          <a:ln w="25400">
            <a:solidFill>
              <a:srgbClr val="B9C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19756"/>
            <a:ext cx="3701491" cy="566928"/>
          </a:xfrm>
          <a:prstGeom prst="roundRect">
            <a:avLst>
              <a:gd name="adj" fmla="val 12903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619756"/>
            <a:ext cx="35186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記者Bの会社アカウント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0131" y="2903220"/>
            <a:ext cx="320040" cy="0"/>
          </a:xfrm>
          <a:prstGeom prst="line">
            <a:avLst/>
          </a:prstGeom>
          <a:noFill/>
          <a:ln w="25400">
            <a:solidFill>
              <a:srgbClr val="B9C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73552"/>
            <a:ext cx="3701491" cy="566928"/>
          </a:xfrm>
          <a:prstGeom prst="roundRect">
            <a:avLst>
              <a:gd name="adj" fmla="val 12903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273552"/>
            <a:ext cx="35186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記者Cの会社アカウント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50131" y="3557016"/>
            <a:ext cx="320040" cy="0"/>
          </a:xfrm>
          <a:prstGeom prst="line">
            <a:avLst/>
          </a:prstGeom>
          <a:noFill/>
          <a:ln w="25400">
            <a:solidFill>
              <a:srgbClr val="B9CC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0171" y="2249424"/>
            <a:ext cx="0" cy="1307592"/>
          </a:xfrm>
          <a:prstGeom prst="line">
            <a:avLst/>
          </a:prstGeom>
          <a:noFill/>
          <a:ln w="25400">
            <a:solidFill>
              <a:srgbClr val="B9C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0171" y="2903220"/>
            <a:ext cx="274320" cy="0"/>
          </a:xfrm>
          <a:prstGeom prst="line">
            <a:avLst/>
          </a:prstGeom>
          <a:noFill/>
          <a:ln w="31750">
            <a:solidFill>
              <a:srgbClr val="1C2E4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844491" y="1965960"/>
            <a:ext cx="3750869" cy="1874520"/>
          </a:xfrm>
          <a:prstGeom prst="roundRect">
            <a:avLst>
              <a:gd name="adj" fmla="val 4878"/>
            </a:avLst>
          </a:prstGeom>
          <a:solidFill>
            <a:srgbClr val="1C2E4A"/>
          </a:solidFill>
          <a:ln/>
          <a:effectLst>
            <a:outerShdw sx="100000" sy="100000" kx="0" ky="0" algn="bl" rotWithShape="0" blurRad="114300" dist="38100" dir="5400000">
              <a:srgbClr val="132038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81651" y="1965960"/>
            <a:ext cx="3476549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</a:t>
            </a:r>
            <a:endParaRPr lang="en-US" sz="16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B9CC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の受信箱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1C2E4A"/>
          </a:solidFill>
          <a:ln/>
          <a:effectLst>
            <a:outerShdw sx="100000" sy="100000" kx="0" ky="0" algn="bl" rotWithShape="0" blurRad="101600" dist="38100" dir="5400000">
              <a:srgbClr val="132038">
                <a:alpha val="2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1520" y="4160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社会部Gmailの共通パスワードを、一般部員が知る必要はありません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「代理アクセス」とは：自分の会社アカウントから、社会部のメールボックスを開く仕組みのことです。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03｜たとえて言うと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「社員証」で考えると簡単です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840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74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これまで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65960" y="2258568"/>
            <a:ext cx="914400" cy="914400"/>
          </a:xfrm>
          <a:prstGeom prst="ellipse">
            <a:avLst/>
          </a:prstGeom>
          <a:solidFill>
            <a:srgbClr val="F2F3F5"/>
          </a:solidFill>
          <a:ln/>
        </p:spPr>
      </p:sp>
      <p:sp>
        <p:nvSpPr>
          <p:cNvPr id="7" name="Text 5"/>
          <p:cNvSpPr/>
          <p:nvPr/>
        </p:nvSpPr>
        <p:spPr>
          <a:xfrm>
            <a:off x="1965960" y="225856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🔑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32918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全員が同じ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マスターキーを持つ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00600" y="1691640"/>
            <a:ext cx="3840480" cy="2286000"/>
          </a:xfrm>
          <a:prstGeom prst="roundRect">
            <a:avLst>
              <a:gd name="adj" fmla="val 4000"/>
            </a:avLst>
          </a:prstGeom>
          <a:solidFill>
            <a:srgbClr val="DCE7F5"/>
          </a:solidFill>
          <a:ln w="19050">
            <a:solidFill>
              <a:srgbClr val="1C2E4A"/>
            </a:solidFill>
            <a:prstDash val="solid"/>
          </a:ln>
          <a:effectLst>
            <a:outerShdw sx="100000" sy="100000" kx="0" ky="0" algn="bl" rotWithShape="0" blurRad="88900" dist="31750" dir="5400000">
              <a:srgbClr val="132038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874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これから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258568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225856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💳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983480" y="32918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それぞれ自分の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社員証を使う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42062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1C2E4A"/>
          </a:solidFill>
          <a:ln/>
          <a:effectLst>
            <a:outerShdw sx="100000" sy="100000" kx="0" ky="0" algn="bl" rotWithShape="0" blurRad="101600" dist="38100" dir="5400000">
              <a:srgbClr val="132038">
                <a:alpha val="2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" y="4206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社員証に「社会部メール室に入れる」権限だけが追加されるイメージです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※実際の仕組みはGoogleアカウントの利用権限です。物理的な社員証があるわけではありません。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04｜できること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代理アクセスで、記者は何ができる？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62940" y="1508760"/>
            <a:ext cx="1783080" cy="23317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88720" y="1728216"/>
            <a:ext cx="731520" cy="731520"/>
          </a:xfrm>
          <a:prstGeom prst="ellipse">
            <a:avLst/>
          </a:prstGeom>
          <a:solidFill>
            <a:srgbClr val="DCE7F5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7282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2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🔍</a:t>
            </a:r>
            <a:endParaRPr lang="en-US" sz="2720" dirty="0"/>
          </a:p>
        </p:txBody>
      </p:sp>
      <p:sp>
        <p:nvSpPr>
          <p:cNvPr id="7" name="Text 5"/>
          <p:cNvSpPr/>
          <p:nvPr/>
        </p:nvSpPr>
        <p:spPr>
          <a:xfrm>
            <a:off x="736092" y="2551176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読む・検索する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00100" y="2916936"/>
            <a:ext cx="15087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読者や取材先からの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メールを確認・検索できる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2674620" y="1508760"/>
            <a:ext cx="1783080" cy="23317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728216"/>
            <a:ext cx="731520" cy="731520"/>
          </a:xfrm>
          <a:prstGeom prst="ellipse">
            <a:avLst/>
          </a:prstGeom>
          <a:solidFill>
            <a:srgbClr val="DCE7F5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17282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2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↩️</a:t>
            </a:r>
            <a:endParaRPr lang="en-US" sz="2720" dirty="0"/>
          </a:p>
        </p:txBody>
      </p:sp>
      <p:sp>
        <p:nvSpPr>
          <p:cNvPr id="12" name="Text 10"/>
          <p:cNvSpPr/>
          <p:nvPr/>
        </p:nvSpPr>
        <p:spPr>
          <a:xfrm>
            <a:off x="2747772" y="2551176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返信する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811780" y="2916936"/>
            <a:ext cx="15087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社会部として、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そのまま返信できる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686300" y="1508760"/>
            <a:ext cx="1783080" cy="23317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12080" y="1728216"/>
            <a:ext cx="731520" cy="731520"/>
          </a:xfrm>
          <a:prstGeom prst="ellipse">
            <a:avLst/>
          </a:prstGeom>
          <a:solidFill>
            <a:srgbClr val="DCE7F5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17282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2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📤</a:t>
            </a:r>
            <a:endParaRPr lang="en-US" sz="2720" dirty="0"/>
          </a:p>
        </p:txBody>
      </p:sp>
      <p:sp>
        <p:nvSpPr>
          <p:cNvPr id="17" name="Text 15"/>
          <p:cNvSpPr/>
          <p:nvPr/>
        </p:nvSpPr>
        <p:spPr>
          <a:xfrm>
            <a:off x="4759452" y="2551176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送る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23460" y="2916936"/>
            <a:ext cx="15087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必要な相手に、新しく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メールを送れる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6697980" y="1508760"/>
            <a:ext cx="1783080" cy="23317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223760" y="1728216"/>
            <a:ext cx="731520" cy="731520"/>
          </a:xfrm>
          <a:prstGeom prst="ellipse">
            <a:avLst/>
          </a:prstGeom>
          <a:solidFill>
            <a:srgbClr val="DCE7F5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17282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2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🗂️</a:t>
            </a:r>
            <a:endParaRPr lang="en-US" sz="2720" dirty="0"/>
          </a:p>
        </p:txBody>
      </p:sp>
      <p:sp>
        <p:nvSpPr>
          <p:cNvPr id="22" name="Text 20"/>
          <p:cNvSpPr/>
          <p:nvPr/>
        </p:nvSpPr>
        <p:spPr>
          <a:xfrm>
            <a:off x="6771132" y="2551176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整理する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835140" y="2916936"/>
            <a:ext cx="15087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不要なメールの削除や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ラベル分けができる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02920" y="4041648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C2E4A"/>
          </a:solidFill>
          <a:ln/>
          <a:effectLst>
            <a:outerShdw sx="100000" sy="100000" kx="0" ky="0" algn="bl" rotWithShape="0" blurRad="101600" dist="38100" dir="5400000">
              <a:srgbClr val="132038">
                <a:alpha val="2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" y="404164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ふだんのメール業務は、ほぼそのまま行えます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05｜できないこと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代理アクセスで、記者ができないことは？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508760"/>
            <a:ext cx="2377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4480" y="1728216"/>
            <a:ext cx="731520" cy="731520"/>
          </a:xfrm>
          <a:prstGeom prst="ellipse">
            <a:avLst/>
          </a:prstGeom>
          <a:solidFill>
            <a:srgbClr val="FDF1E6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7282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2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🔑</a:t>
            </a:r>
            <a:endParaRPr lang="en-US" sz="2720" dirty="0"/>
          </a:p>
        </p:txBody>
      </p:sp>
      <p:sp>
        <p:nvSpPr>
          <p:cNvPr id="7" name="Shape 5"/>
          <p:cNvSpPr/>
          <p:nvPr/>
        </p:nvSpPr>
        <p:spPr>
          <a:xfrm>
            <a:off x="2103120" y="1655064"/>
            <a:ext cx="292608" cy="292608"/>
          </a:xfrm>
          <a:prstGeom prst="ellipse">
            <a:avLst/>
          </a:prstGeom>
          <a:solidFill>
            <a:srgbClr val="A6480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03120" y="1655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×</a:t>
            </a:r>
            <a:endParaRPr lang="en-US" sz="1408" dirty="0"/>
          </a:p>
        </p:txBody>
      </p:sp>
      <p:sp>
        <p:nvSpPr>
          <p:cNvPr id="9" name="Text 7"/>
          <p:cNvSpPr/>
          <p:nvPr/>
        </p:nvSpPr>
        <p:spPr>
          <a:xfrm>
            <a:off x="804672" y="2551176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パスワード変更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2916936"/>
            <a:ext cx="21031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社会部アカウントを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安全に守るための仕組みです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3383280" y="1508760"/>
            <a:ext cx="2377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06240" y="1728216"/>
            <a:ext cx="731520" cy="731520"/>
          </a:xfrm>
          <a:prstGeom prst="ellipse">
            <a:avLst/>
          </a:prstGeom>
          <a:solidFill>
            <a:srgbClr val="FDF1E6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17282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2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⚙️</a:t>
            </a:r>
            <a:endParaRPr lang="en-US" sz="2720" dirty="0"/>
          </a:p>
        </p:txBody>
      </p:sp>
      <p:sp>
        <p:nvSpPr>
          <p:cNvPr id="14" name="Shape 12"/>
          <p:cNvSpPr/>
          <p:nvPr/>
        </p:nvSpPr>
        <p:spPr>
          <a:xfrm>
            <a:off x="4754880" y="1655064"/>
            <a:ext cx="292608" cy="292608"/>
          </a:xfrm>
          <a:prstGeom prst="ellipse">
            <a:avLst/>
          </a:prstGeom>
          <a:solidFill>
            <a:srgbClr val="A6480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655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×</a:t>
            </a:r>
            <a:endParaRPr lang="en-US" sz="1408" dirty="0"/>
          </a:p>
        </p:txBody>
      </p:sp>
      <p:sp>
        <p:nvSpPr>
          <p:cNvPr id="16" name="Text 14"/>
          <p:cNvSpPr/>
          <p:nvPr/>
        </p:nvSpPr>
        <p:spPr>
          <a:xfrm>
            <a:off x="3456432" y="2551176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アカウント全体の設定変更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20440" y="2916936"/>
            <a:ext cx="21031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2段階認証など、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本体の設定は変更できません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6035040" y="1508760"/>
            <a:ext cx="2377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0" y="1728216"/>
            <a:ext cx="731520" cy="731520"/>
          </a:xfrm>
          <a:prstGeom prst="ellipse">
            <a:avLst/>
          </a:prstGeom>
          <a:solidFill>
            <a:srgbClr val="FDF1E6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17282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2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🧩</a:t>
            </a:r>
            <a:endParaRPr lang="en-US" sz="2720" dirty="0"/>
          </a:p>
        </p:txBody>
      </p:sp>
      <p:sp>
        <p:nvSpPr>
          <p:cNvPr id="21" name="Shape 19"/>
          <p:cNvSpPr/>
          <p:nvPr/>
        </p:nvSpPr>
        <p:spPr>
          <a:xfrm>
            <a:off x="7406640" y="1655064"/>
            <a:ext cx="292608" cy="292608"/>
          </a:xfrm>
          <a:prstGeom prst="ellipse">
            <a:avLst/>
          </a:prstGeom>
          <a:solidFill>
            <a:srgbClr val="A6480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1655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×</a:t>
            </a:r>
            <a:endParaRPr lang="en-US" sz="1408" dirty="0"/>
          </a:p>
        </p:txBody>
      </p:sp>
      <p:sp>
        <p:nvSpPr>
          <p:cNvPr id="23" name="Text 21"/>
          <p:cNvSpPr/>
          <p:nvPr/>
        </p:nvSpPr>
        <p:spPr>
          <a:xfrm>
            <a:off x="6108192" y="2551176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他サービスへの自動アクセス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72200" y="2916936"/>
            <a:ext cx="21031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Gmail以外は、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それぞれ別の許可が必要です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C2E4A"/>
          </a:solidFill>
          <a:ln/>
          <a:effectLst>
            <a:outerShdw sx="100000" sy="100000" kx="0" ky="0" algn="bl" rotWithShape="0" blurRad="101600" dist="38100" dir="5400000">
              <a:srgbClr val="132038">
                <a:alpha val="24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85800" y="404164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メール業務はできる。でも、アカウントそのものの管理者にはならない。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06｜ここから先の流れ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実際の画面で、3つの場面を見ていきます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80060" y="178308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1328" y="1984248"/>
            <a:ext cx="512064" cy="512064"/>
          </a:xfrm>
          <a:prstGeom prst="ellipse">
            <a:avLst/>
          </a:prstGeom>
          <a:solidFill>
            <a:srgbClr val="1C2E4A"/>
          </a:solidFill>
          <a:ln/>
          <a:effectLst>
            <a:outerShdw sx="100000" sy="100000" kx="0" ky="0" algn="bl" rotWithShape="0" blurRad="50800" dist="19050" dir="5400000">
              <a:srgbClr val="132038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481328" y="19842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71500" y="2606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設定編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71500" y="29535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管理担当が行う作業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7220" y="3291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社会部Gmail側で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利用者を登録する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031236" y="2834640"/>
            <a:ext cx="246888" cy="0"/>
          </a:xfrm>
          <a:prstGeom prst="line">
            <a:avLst/>
          </a:prstGeom>
          <a:noFill/>
          <a:ln w="2540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14700" y="178308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15968" y="1984248"/>
            <a:ext cx="512064" cy="512064"/>
          </a:xfrm>
          <a:prstGeom prst="ellipse">
            <a:avLst/>
          </a:prstGeom>
          <a:solidFill>
            <a:srgbClr val="1C2E4A"/>
          </a:solidFill>
          <a:ln/>
          <a:effectLst>
            <a:outerShdw sx="100000" sy="100000" kx="0" ky="0" algn="bl" rotWithShape="0" blurRad="50800" dist="19050" dir="5400000">
              <a:srgbClr val="132038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15968" y="19842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06140" y="2606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承認編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6140" y="29535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記者が行う作業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51860" y="3291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届いた招待メールを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確認して承認する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865876" y="2834640"/>
            <a:ext cx="246888" cy="0"/>
          </a:xfrm>
          <a:prstGeom prst="line">
            <a:avLst/>
          </a:prstGeom>
          <a:noFill/>
          <a:ln w="2540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49340" y="178308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150608" y="1984248"/>
            <a:ext cx="512064" cy="512064"/>
          </a:xfrm>
          <a:prstGeom prst="ellipse">
            <a:avLst/>
          </a:prstGeom>
          <a:solidFill>
            <a:srgbClr val="1C2E4A"/>
          </a:solidFill>
          <a:ln/>
          <a:effectLst>
            <a:outerShdw sx="100000" sy="100000" kx="0" ky="0" algn="bl" rotWithShape="0" blurRad="50800" dist="19050" dir="5400000">
              <a:srgbClr val="132038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50608" y="19842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240780" y="2606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毎日の使い方編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40780" y="29535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記者が行う作業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291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自分のアカウントから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社会部Gmailを開く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16052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C2E4A"/>
          </a:solidFill>
          <a:ln/>
          <a:effectLst>
            <a:outerShdw sx="100000" sy="100000" kx="0" ky="0" algn="bl" rotWithShape="0" blurRad="101600" dist="38100" dir="5400000">
              <a:srgbClr val="132038">
                <a:alpha val="2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" y="41605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画面のイメージ図を見ながら、1つずつ操作を確認していきます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設定編（管理担当が行う作業） STEP 1 / 3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263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63640" y="384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設定編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80467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社会部Gmailの「設定」を開く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73152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CBD2DC"/>
            </a:solidFill>
            <a:prstDash val="solid"/>
          </a:ln>
          <a:effectLst>
            <a:outerShdw sx="100000" sy="100000" kx="0" ky="0" algn="bl" rotWithShape="0" blurRad="127000" dist="44450" dir="5400000">
              <a:srgbClr val="13203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347472"/>
          </a:xfrm>
          <a:prstGeom prst="roundRect">
            <a:avLst>
              <a:gd name="adj" fmla="val 13158"/>
            </a:avLst>
          </a:prstGeom>
          <a:solidFill>
            <a:srgbClr val="EEF0F3"/>
          </a:solidFill>
          <a:ln w="15875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45920"/>
            <a:ext cx="7315200" cy="73152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1504188"/>
            <a:ext cx="82296" cy="82296"/>
          </a:xfrm>
          <a:prstGeom prst="ellipse">
            <a:avLst/>
          </a:prstGeom>
          <a:solidFill>
            <a:srgbClr val="E0897F"/>
          </a:solidFill>
          <a:ln/>
        </p:spPr>
      </p:sp>
      <p:sp>
        <p:nvSpPr>
          <p:cNvPr id="10" name="Shape 8"/>
          <p:cNvSpPr/>
          <p:nvPr/>
        </p:nvSpPr>
        <p:spPr>
          <a:xfrm>
            <a:off x="1216152" y="1504188"/>
            <a:ext cx="82296" cy="82296"/>
          </a:xfrm>
          <a:prstGeom prst="ellipse">
            <a:avLst/>
          </a:prstGeom>
          <a:solidFill>
            <a:srgbClr val="EFC077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504188"/>
            <a:ext cx="82296" cy="82296"/>
          </a:xfrm>
          <a:prstGeom prst="ellipse">
            <a:avLst/>
          </a:prstGeom>
          <a:solidFill>
            <a:srgbClr val="8DC79A"/>
          </a:solidFill>
          <a:ln/>
        </p:spPr>
      </p:sp>
      <p:sp>
        <p:nvSpPr>
          <p:cNvPr id="12" name="Shape 10"/>
          <p:cNvSpPr/>
          <p:nvPr/>
        </p:nvSpPr>
        <p:spPr>
          <a:xfrm>
            <a:off x="1508760" y="1426464"/>
            <a:ext cx="61264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9525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1426464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mail.google.com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Gmail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468880" y="1901952"/>
            <a:ext cx="4297680" cy="310896"/>
          </a:xfrm>
          <a:prstGeom prst="roundRect">
            <a:avLst>
              <a:gd name="adj" fmla="val 50000"/>
            </a:avLst>
          </a:prstGeom>
          <a:solidFill>
            <a:srgbClr val="F1F2F5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1901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メールを検索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99516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⚙️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635240" y="1847088"/>
            <a:ext cx="384048" cy="384048"/>
          </a:xfrm>
          <a:prstGeom prst="ellipse">
            <a:avLst/>
          </a:prstGeom>
          <a:solidFill>
            <a:srgbClr val="B9CCE8"/>
          </a:solidFill>
          <a:ln/>
        </p:spPr>
      </p:sp>
      <p:sp>
        <p:nvSpPr>
          <p:cNvPr id="19" name="Text 17"/>
          <p:cNvSpPr/>
          <p:nvPr/>
        </p:nvSpPr>
        <p:spPr>
          <a:xfrm>
            <a:off x="7635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2359152"/>
            <a:ext cx="731520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43000" y="2496312"/>
            <a:ext cx="6858000" cy="274320"/>
          </a:xfrm>
          <a:prstGeom prst="roundRect">
            <a:avLst>
              <a:gd name="adj" fmla="val 16667"/>
            </a:avLst>
          </a:prstGeom>
          <a:solidFill>
            <a:srgbClr val="F5F6F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3000" y="2880360"/>
            <a:ext cx="6858000" cy="274320"/>
          </a:xfrm>
          <a:prstGeom prst="roundRect">
            <a:avLst>
              <a:gd name="adj" fmla="val 16667"/>
            </a:avLst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000" y="3264408"/>
            <a:ext cx="6858000" cy="274320"/>
          </a:xfrm>
          <a:prstGeom prst="roundRect">
            <a:avLst>
              <a:gd name="adj" fmla="val 16667"/>
            </a:avLst>
          </a:prstGeom>
          <a:solidFill>
            <a:srgbClr val="F5F6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903720" y="1755648"/>
            <a:ext cx="566928" cy="566928"/>
          </a:xfrm>
          <a:prstGeom prst="ellipse">
            <a:avLst>
              <a:gd name="adj" fmla="val 12903"/>
            </a:avLst>
          </a:prstGeom>
          <a:ln w="34925">
            <a:solidFill>
              <a:srgbClr val="A6480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375818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画面イメージ（実際の画面とは異なります）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14400" y="3977640"/>
            <a:ext cx="7315200" cy="457200"/>
          </a:xfrm>
          <a:prstGeom prst="roundRect">
            <a:avLst>
              <a:gd name="adj" fmla="val 16000"/>
            </a:avLst>
          </a:prstGeom>
          <a:solidFill>
            <a:srgbClr val="A6480E"/>
          </a:solidFill>
          <a:ln/>
          <a:effectLst>
            <a:outerShdw sx="100000" sy="100000" kx="0" ky="0" algn="bl" rotWithShape="0" blurRad="88900" dist="31750" dir="5400000">
              <a:srgbClr val="132038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51560" y="4073652"/>
            <a:ext cx="621792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51560" y="4073652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6480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POINT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810512" y="397764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①ここ（歯車マーク）を押します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設定編（管理担当が行う作業） STEP 2 / 3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263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63640" y="384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設定編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80467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「アカウントとインポート」タブを選ぶ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73152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CBD2DC"/>
            </a:solidFill>
            <a:prstDash val="solid"/>
          </a:ln>
          <a:effectLst>
            <a:outerShdw sx="100000" sy="100000" kx="0" ky="0" algn="bl" rotWithShape="0" blurRad="127000" dist="44450" dir="5400000">
              <a:srgbClr val="13203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347472"/>
          </a:xfrm>
          <a:prstGeom prst="roundRect">
            <a:avLst>
              <a:gd name="adj" fmla="val 13158"/>
            </a:avLst>
          </a:prstGeom>
          <a:solidFill>
            <a:srgbClr val="EEF0F3"/>
          </a:solidFill>
          <a:ln w="15875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45920"/>
            <a:ext cx="7315200" cy="73152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1504188"/>
            <a:ext cx="82296" cy="82296"/>
          </a:xfrm>
          <a:prstGeom prst="ellipse">
            <a:avLst/>
          </a:prstGeom>
          <a:solidFill>
            <a:srgbClr val="E0897F"/>
          </a:solidFill>
          <a:ln/>
        </p:spPr>
      </p:sp>
      <p:sp>
        <p:nvSpPr>
          <p:cNvPr id="10" name="Shape 8"/>
          <p:cNvSpPr/>
          <p:nvPr/>
        </p:nvSpPr>
        <p:spPr>
          <a:xfrm>
            <a:off x="1216152" y="1504188"/>
            <a:ext cx="82296" cy="82296"/>
          </a:xfrm>
          <a:prstGeom prst="ellipse">
            <a:avLst/>
          </a:prstGeom>
          <a:solidFill>
            <a:srgbClr val="EFC077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504188"/>
            <a:ext cx="82296" cy="82296"/>
          </a:xfrm>
          <a:prstGeom prst="ellipse">
            <a:avLst/>
          </a:prstGeom>
          <a:solidFill>
            <a:srgbClr val="8DC79A"/>
          </a:solidFill>
          <a:ln/>
        </p:spPr>
      </p:sp>
      <p:sp>
        <p:nvSpPr>
          <p:cNvPr id="12" name="Shape 10"/>
          <p:cNvSpPr/>
          <p:nvPr/>
        </p:nvSpPr>
        <p:spPr>
          <a:xfrm>
            <a:off x="1508760" y="1426464"/>
            <a:ext cx="61264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9525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1426464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mail.google.com/settings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1828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377440" y="1828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ラベル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0" y="1828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受信トレイ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03520" y="1828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アカウントとインポート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0" y="1828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フィルタ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14400" y="2176272"/>
            <a:ext cx="731520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94960" y="2167128"/>
            <a:ext cx="1280160" cy="0"/>
          </a:xfrm>
          <a:prstGeom prst="line">
            <a:avLst/>
          </a:prstGeom>
          <a:noFill/>
          <a:ln w="31750">
            <a:solidFill>
              <a:srgbClr val="1C2E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0" y="240487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アカウントにアクセス権を与える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88720" y="272491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委任された人が、あなたに代わってメールを読んだり送信したりできるようになります。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230368" y="1792224"/>
            <a:ext cx="1609344" cy="384048"/>
          </a:xfrm>
          <a:prstGeom prst="roundRect">
            <a:avLst>
              <a:gd name="adj" fmla="val 11905"/>
            </a:avLst>
          </a:prstGeom>
          <a:ln w="34925">
            <a:solidFill>
              <a:srgbClr val="A6480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75818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画面イメージ（実際の画面とは異なります）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914400" y="3977640"/>
            <a:ext cx="7315200" cy="457200"/>
          </a:xfrm>
          <a:prstGeom prst="roundRect">
            <a:avLst>
              <a:gd name="adj" fmla="val 16000"/>
            </a:avLst>
          </a:prstGeom>
          <a:solidFill>
            <a:srgbClr val="A6480E"/>
          </a:solidFill>
          <a:ln/>
          <a:effectLst>
            <a:outerShdw sx="100000" sy="100000" kx="0" ky="0" algn="bl" rotWithShape="0" blurRad="88900" dist="31750" dir="5400000">
              <a:srgbClr val="132038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51560" y="4073652"/>
            <a:ext cx="621792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51560" y="4073652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6480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POINT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810512" y="397764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②「アカウントとインポート」のタブを選びます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設定編（管理担当が行う作業） STEP 3 / 3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263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63640" y="384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設定編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80467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「別のアカウントを追加」から追加したい人を入力する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73152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CBD2DC"/>
            </a:solidFill>
            <a:prstDash val="solid"/>
          </a:ln>
          <a:effectLst>
            <a:outerShdw sx="100000" sy="100000" kx="0" ky="0" algn="bl" rotWithShape="0" blurRad="127000" dist="44450" dir="5400000">
              <a:srgbClr val="13203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347472"/>
          </a:xfrm>
          <a:prstGeom prst="roundRect">
            <a:avLst>
              <a:gd name="adj" fmla="val 13158"/>
            </a:avLst>
          </a:prstGeom>
          <a:solidFill>
            <a:srgbClr val="EEF0F3"/>
          </a:solidFill>
          <a:ln w="15875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45920"/>
            <a:ext cx="7315200" cy="73152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1504188"/>
            <a:ext cx="82296" cy="82296"/>
          </a:xfrm>
          <a:prstGeom prst="ellipse">
            <a:avLst/>
          </a:prstGeom>
          <a:solidFill>
            <a:srgbClr val="E0897F"/>
          </a:solidFill>
          <a:ln/>
        </p:spPr>
      </p:sp>
      <p:sp>
        <p:nvSpPr>
          <p:cNvPr id="10" name="Shape 8"/>
          <p:cNvSpPr/>
          <p:nvPr/>
        </p:nvSpPr>
        <p:spPr>
          <a:xfrm>
            <a:off x="1216152" y="1504188"/>
            <a:ext cx="82296" cy="82296"/>
          </a:xfrm>
          <a:prstGeom prst="ellipse">
            <a:avLst/>
          </a:prstGeom>
          <a:solidFill>
            <a:srgbClr val="EFC077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504188"/>
            <a:ext cx="82296" cy="82296"/>
          </a:xfrm>
          <a:prstGeom prst="ellipse">
            <a:avLst/>
          </a:prstGeom>
          <a:solidFill>
            <a:srgbClr val="8DC79A"/>
          </a:solidFill>
          <a:ln/>
        </p:spPr>
      </p:sp>
      <p:sp>
        <p:nvSpPr>
          <p:cNvPr id="12" name="Shape 10"/>
          <p:cNvSpPr/>
          <p:nvPr/>
        </p:nvSpPr>
        <p:spPr>
          <a:xfrm>
            <a:off x="1508760" y="1426464"/>
            <a:ext cx="61264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9525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1426464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mail.google.com/settings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88720" y="18562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アカウントにアクセス権を与える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88720" y="2176272"/>
            <a:ext cx="2194560" cy="365760"/>
          </a:xfrm>
          <a:prstGeom prst="roundRect">
            <a:avLst>
              <a:gd name="adj" fmla="val 15000"/>
            </a:avLst>
          </a:prstGeom>
          <a:solidFill>
            <a:srgbClr val="DCE7F5"/>
          </a:solidFill>
          <a:ln w="15875">
            <a:solidFill>
              <a:srgbClr val="1C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21762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＋ 別のアカウントを追加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188720" y="2706624"/>
            <a:ext cx="676656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0" y="2834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追加するメールアドレス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0" y="2798064"/>
            <a:ext cx="2651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27980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kisha-a@example.co.jp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89320" y="2798064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1C2E4A"/>
          </a:solidFill>
          <a:ln/>
        </p:spPr>
      </p:sp>
      <p:sp>
        <p:nvSpPr>
          <p:cNvPr id="22" name="Text 20"/>
          <p:cNvSpPr/>
          <p:nvPr/>
        </p:nvSpPr>
        <p:spPr>
          <a:xfrm>
            <a:off x="5989320" y="279806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次のステップへ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154680" y="2752344"/>
            <a:ext cx="4480560" cy="457200"/>
          </a:xfrm>
          <a:prstGeom prst="roundRect">
            <a:avLst>
              <a:gd name="adj" fmla="val 12000"/>
            </a:avLst>
          </a:prstGeom>
          <a:ln w="34925">
            <a:solidFill>
              <a:srgbClr val="A6480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75818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画面イメージ（実際の画面とは異なります）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914400" y="3977640"/>
            <a:ext cx="7315200" cy="457200"/>
          </a:xfrm>
          <a:prstGeom prst="roundRect">
            <a:avLst>
              <a:gd name="adj" fmla="val 16000"/>
            </a:avLst>
          </a:prstGeom>
          <a:solidFill>
            <a:srgbClr val="A6480E"/>
          </a:solidFill>
          <a:ln/>
          <a:effectLst>
            <a:outerShdw sx="100000" sy="100000" kx="0" ky="0" algn="bl" rotWithShape="0" blurRad="88900" dist="31750" dir="5400000">
              <a:srgbClr val="132038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51560" y="4073652"/>
            <a:ext cx="621792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51560" y="4073652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6480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POINT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810512" y="397764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③メールアドレスを入力し、「次のステップへ」で招待を送ります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※画面内のメールアドレスは例です。実際は追加したい記者のメールアドレスを入力します。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承認編（記者が行う作業） STEP 1 / 3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263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63640" y="384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承認編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80467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自分のGmailに、招待メールが届く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73152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CBD2DC"/>
            </a:solidFill>
            <a:prstDash val="solid"/>
          </a:ln>
          <a:effectLst>
            <a:outerShdw sx="100000" sy="100000" kx="0" ky="0" algn="bl" rotWithShape="0" blurRad="127000" dist="44450" dir="5400000">
              <a:srgbClr val="13203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347472"/>
          </a:xfrm>
          <a:prstGeom prst="roundRect">
            <a:avLst>
              <a:gd name="adj" fmla="val 13158"/>
            </a:avLst>
          </a:prstGeom>
          <a:solidFill>
            <a:srgbClr val="EEF0F3"/>
          </a:solidFill>
          <a:ln w="15875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45920"/>
            <a:ext cx="7315200" cy="73152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1504188"/>
            <a:ext cx="82296" cy="82296"/>
          </a:xfrm>
          <a:prstGeom prst="ellipse">
            <a:avLst/>
          </a:prstGeom>
          <a:solidFill>
            <a:srgbClr val="E0897F"/>
          </a:solidFill>
          <a:ln/>
        </p:spPr>
      </p:sp>
      <p:sp>
        <p:nvSpPr>
          <p:cNvPr id="10" name="Shape 8"/>
          <p:cNvSpPr/>
          <p:nvPr/>
        </p:nvSpPr>
        <p:spPr>
          <a:xfrm>
            <a:off x="1216152" y="1504188"/>
            <a:ext cx="82296" cy="82296"/>
          </a:xfrm>
          <a:prstGeom prst="ellipse">
            <a:avLst/>
          </a:prstGeom>
          <a:solidFill>
            <a:srgbClr val="EFC077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504188"/>
            <a:ext cx="82296" cy="82296"/>
          </a:xfrm>
          <a:prstGeom prst="ellipse">
            <a:avLst/>
          </a:prstGeom>
          <a:solidFill>
            <a:srgbClr val="8DC79A"/>
          </a:solidFill>
          <a:ln/>
        </p:spPr>
      </p:sp>
      <p:sp>
        <p:nvSpPr>
          <p:cNvPr id="12" name="Shape 10"/>
          <p:cNvSpPr/>
          <p:nvPr/>
        </p:nvSpPr>
        <p:spPr>
          <a:xfrm>
            <a:off x="1508760" y="1426464"/>
            <a:ext cx="61264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9525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1426464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mail.google.com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97280" y="1856232"/>
            <a:ext cx="6949440" cy="512064"/>
          </a:xfrm>
          <a:prstGeom prst="roundRect">
            <a:avLst>
              <a:gd name="adj" fmla="val 8929"/>
            </a:avLst>
          </a:prstGeom>
          <a:solidFill>
            <a:srgbClr val="DCE7F5"/>
          </a:solidFill>
          <a:ln w="15875">
            <a:solidFill>
              <a:srgbClr val="1C2E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80160" y="1911096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社会部Gmail管理担当 &lt;shakaibu@example.co.jp&gt;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280160" y="213055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「メールの委任」の招待が届いています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51560" y="1810512"/>
            <a:ext cx="7040880" cy="603504"/>
          </a:xfrm>
          <a:prstGeom prst="roundRect">
            <a:avLst>
              <a:gd name="adj" fmla="val 9091"/>
            </a:avLst>
          </a:prstGeom>
          <a:ln w="34925">
            <a:solidFill>
              <a:srgbClr val="A6480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" y="2441448"/>
            <a:ext cx="6949440" cy="512064"/>
          </a:xfrm>
          <a:prstGeom prst="roundRect">
            <a:avLst>
              <a:gd name="adj" fmla="val 8929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80160" y="2496312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7BC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（他のメール）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280160" y="27157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CBD3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（他のメール）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97280" y="3026664"/>
            <a:ext cx="6949440" cy="512064"/>
          </a:xfrm>
          <a:prstGeom prst="roundRect">
            <a:avLst>
              <a:gd name="adj" fmla="val 8929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3081528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7BC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（他のメール）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280160" y="33009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7CBD3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（他のメール）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375818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画面イメージ（実際の画面とは異なります）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914400" y="3977640"/>
            <a:ext cx="7315200" cy="457200"/>
          </a:xfrm>
          <a:prstGeom prst="roundRect">
            <a:avLst>
              <a:gd name="adj" fmla="val 16000"/>
            </a:avLst>
          </a:prstGeom>
          <a:solidFill>
            <a:srgbClr val="A6480E"/>
          </a:solidFill>
          <a:ln/>
          <a:effectLst>
            <a:outerShdw sx="100000" sy="100000" kx="0" ky="0" algn="bl" rotWithShape="0" blurRad="88900" dist="31750" dir="5400000">
              <a:srgbClr val="132038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51560" y="4073652"/>
            <a:ext cx="621792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51560" y="4073652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6480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POINT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810512" y="397764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①社会部からの招待メールを、受信箱の中から探します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承認編（記者が行う作業） STEP 2 / 3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263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63640" y="384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承認編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80467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メールを開いて、送信元と内容を確認する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73152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CBD2DC"/>
            </a:solidFill>
            <a:prstDash val="solid"/>
          </a:ln>
          <a:effectLst>
            <a:outerShdw sx="100000" sy="100000" kx="0" ky="0" algn="bl" rotWithShape="0" blurRad="127000" dist="44450" dir="5400000">
              <a:srgbClr val="13203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347472"/>
          </a:xfrm>
          <a:prstGeom prst="roundRect">
            <a:avLst>
              <a:gd name="adj" fmla="val 13158"/>
            </a:avLst>
          </a:prstGeom>
          <a:solidFill>
            <a:srgbClr val="EEF0F3"/>
          </a:solidFill>
          <a:ln w="15875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45920"/>
            <a:ext cx="7315200" cy="73152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1504188"/>
            <a:ext cx="82296" cy="82296"/>
          </a:xfrm>
          <a:prstGeom prst="ellipse">
            <a:avLst/>
          </a:prstGeom>
          <a:solidFill>
            <a:srgbClr val="E0897F"/>
          </a:solidFill>
          <a:ln/>
        </p:spPr>
      </p:sp>
      <p:sp>
        <p:nvSpPr>
          <p:cNvPr id="10" name="Shape 8"/>
          <p:cNvSpPr/>
          <p:nvPr/>
        </p:nvSpPr>
        <p:spPr>
          <a:xfrm>
            <a:off x="1216152" y="1504188"/>
            <a:ext cx="82296" cy="82296"/>
          </a:xfrm>
          <a:prstGeom prst="ellipse">
            <a:avLst/>
          </a:prstGeom>
          <a:solidFill>
            <a:srgbClr val="EFC077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504188"/>
            <a:ext cx="82296" cy="82296"/>
          </a:xfrm>
          <a:prstGeom prst="ellipse">
            <a:avLst/>
          </a:prstGeom>
          <a:solidFill>
            <a:srgbClr val="8DC79A"/>
          </a:solidFill>
          <a:ln/>
        </p:spPr>
      </p:sp>
      <p:sp>
        <p:nvSpPr>
          <p:cNvPr id="12" name="Shape 10"/>
          <p:cNvSpPr/>
          <p:nvPr/>
        </p:nvSpPr>
        <p:spPr>
          <a:xfrm>
            <a:off x="1508760" y="1426464"/>
            <a:ext cx="61264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9525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1426464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mail.google.com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88720" y="1828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件名：「メールの委任」の招待が届いています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88720" y="2121408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From：社会部Gmail管理担当 &lt;shakaibu@example.co.jp&gt;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88720" y="2414016"/>
            <a:ext cx="676656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2523744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shakaibu@example.co.jp さんが、自分の代わりにメールを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読んだり送信したりできる人として、あなたを追加しました。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188720" y="3136392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1C2E4A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3136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アクセスを確認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115568" y="3072384"/>
            <a:ext cx="1874520" cy="493776"/>
          </a:xfrm>
          <a:prstGeom prst="roundRect">
            <a:avLst>
              <a:gd name="adj" fmla="val 12963"/>
            </a:avLst>
          </a:prstGeom>
          <a:ln w="34925">
            <a:solidFill>
              <a:srgbClr val="A6480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75818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画面イメージ（実際の画面とは異なります）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14400" y="3977640"/>
            <a:ext cx="7315200" cy="457200"/>
          </a:xfrm>
          <a:prstGeom prst="roundRect">
            <a:avLst>
              <a:gd name="adj" fmla="val 16000"/>
            </a:avLst>
          </a:prstGeom>
          <a:solidFill>
            <a:srgbClr val="A6480E"/>
          </a:solidFill>
          <a:ln/>
          <a:effectLst>
            <a:outerShdw sx="100000" sy="100000" kx="0" ky="0" algn="bl" rotWithShape="0" blurRad="88900" dist="31750" dir="5400000">
              <a:srgbClr val="132038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51560" y="4073652"/>
            <a:ext cx="621792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073652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6480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POINT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810512" y="397764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②送信元が「shakaibu@example.co.jp」であることを確認します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承認編（記者が行う作業） STEP 3 / 3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263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63640" y="384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承認編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80467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「確認」を押せば、承認は完了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7315200" cy="210312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5875">
            <a:solidFill>
              <a:srgbClr val="CBD2DC"/>
            </a:solidFill>
            <a:prstDash val="solid"/>
          </a:ln>
          <a:effectLst>
            <a:outerShdw sx="100000" sy="100000" kx="0" ky="0" algn="bl" rotWithShape="0" blurRad="127000" dist="44450" dir="5400000">
              <a:srgbClr val="13203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347472"/>
          </a:xfrm>
          <a:prstGeom prst="roundRect">
            <a:avLst>
              <a:gd name="adj" fmla="val 13158"/>
            </a:avLst>
          </a:prstGeom>
          <a:solidFill>
            <a:srgbClr val="EEF0F3"/>
          </a:solidFill>
          <a:ln w="15875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45920"/>
            <a:ext cx="7315200" cy="73152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1504188"/>
            <a:ext cx="82296" cy="82296"/>
          </a:xfrm>
          <a:prstGeom prst="ellipse">
            <a:avLst/>
          </a:prstGeom>
          <a:solidFill>
            <a:srgbClr val="E0897F"/>
          </a:solidFill>
          <a:ln/>
        </p:spPr>
      </p:sp>
      <p:sp>
        <p:nvSpPr>
          <p:cNvPr id="10" name="Shape 8"/>
          <p:cNvSpPr/>
          <p:nvPr/>
        </p:nvSpPr>
        <p:spPr>
          <a:xfrm>
            <a:off x="1216152" y="1504188"/>
            <a:ext cx="82296" cy="82296"/>
          </a:xfrm>
          <a:prstGeom prst="ellipse">
            <a:avLst/>
          </a:prstGeom>
          <a:solidFill>
            <a:srgbClr val="EFC077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504188"/>
            <a:ext cx="82296" cy="82296"/>
          </a:xfrm>
          <a:prstGeom prst="ellipse">
            <a:avLst/>
          </a:prstGeom>
          <a:solidFill>
            <a:srgbClr val="8DC79A"/>
          </a:solidFill>
          <a:ln/>
        </p:spPr>
      </p:sp>
      <p:sp>
        <p:nvSpPr>
          <p:cNvPr id="12" name="Shape 10"/>
          <p:cNvSpPr/>
          <p:nvPr/>
        </p:nvSpPr>
        <p:spPr>
          <a:xfrm>
            <a:off x="1508760" y="1426464"/>
            <a:ext cx="61264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9525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1426464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mail.google.com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97280" y="1856232"/>
            <a:ext cx="6949440" cy="237744"/>
          </a:xfrm>
          <a:prstGeom prst="roundRect">
            <a:avLst>
              <a:gd name="adj" fmla="val 15385"/>
            </a:avLst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7280" y="2176272"/>
            <a:ext cx="6949440" cy="237744"/>
          </a:xfrm>
          <a:prstGeom prst="roundRect">
            <a:avLst>
              <a:gd name="adj" fmla="val 15385"/>
            </a:avLst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280" y="2496312"/>
            <a:ext cx="6949440" cy="237744"/>
          </a:xfrm>
          <a:prstGeom prst="roundRect">
            <a:avLst>
              <a:gd name="adj" fmla="val 15385"/>
            </a:avLst>
          </a:prstGeom>
          <a:solidFill>
            <a:srgbClr val="F5F6F8"/>
          </a:solidFill>
          <a:ln/>
        </p:spPr>
      </p:sp>
      <p:sp>
        <p:nvSpPr>
          <p:cNvPr id="17" name="Shape 15"/>
          <p:cNvSpPr/>
          <p:nvPr/>
        </p:nvSpPr>
        <p:spPr>
          <a:xfrm>
            <a:off x="2468880" y="2039112"/>
            <a:ext cx="4206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CBD2DC"/>
            </a:solidFill>
            <a:prstDash val="solid"/>
          </a:ln>
          <a:effectLst>
            <a:outerShdw sx="100000" sy="100000" kx="0" ky="0" algn="bl" rotWithShape="0" blurRad="127000" dist="38100" dir="5400000">
              <a:srgbClr val="132038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697480" y="21762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確認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697480" y="247802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shakaibu@example.co.jp からのメールへの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アクセスを許可しますか？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40480" y="2953512"/>
            <a:ext cx="1234440" cy="365760"/>
          </a:xfrm>
          <a:prstGeom prst="roundRect">
            <a:avLst>
              <a:gd name="adj" fmla="val 15000"/>
            </a:avLst>
          </a:prstGeom>
          <a:solidFill>
            <a:srgbClr val="F1F2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9535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キャンセル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212080" y="2953512"/>
            <a:ext cx="1234440" cy="365760"/>
          </a:xfrm>
          <a:prstGeom prst="roundRect">
            <a:avLst>
              <a:gd name="adj" fmla="val 15000"/>
            </a:avLst>
          </a:prstGeom>
          <a:solidFill>
            <a:srgbClr val="1C2E4A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0" y="29535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確認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138928" y="2880360"/>
            <a:ext cx="1371600" cy="493776"/>
          </a:xfrm>
          <a:prstGeom prst="roundRect">
            <a:avLst>
              <a:gd name="adj" fmla="val 12963"/>
            </a:avLst>
          </a:prstGeom>
          <a:ln w="34925">
            <a:solidFill>
              <a:srgbClr val="A6480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352958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画面イメージ（実際の画面とは異なります）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14400" y="3794760"/>
            <a:ext cx="7315200" cy="457200"/>
          </a:xfrm>
          <a:prstGeom prst="roundRect">
            <a:avLst>
              <a:gd name="adj" fmla="val 16000"/>
            </a:avLst>
          </a:prstGeom>
          <a:solidFill>
            <a:srgbClr val="A6480E"/>
          </a:solidFill>
          <a:ln/>
          <a:effectLst>
            <a:outerShdw sx="100000" sy="100000" kx="0" ky="0" algn="bl" rotWithShape="0" blurRad="88900" dist="31750" dir="5400000">
              <a:srgbClr val="132038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51560" y="3890772"/>
            <a:ext cx="621792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51560" y="3890772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6480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POINT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810512" y="379476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③「確認」を押せば、承認は完了です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反映まで時間がかかる場合があります。すぐに表示されなくても、時間を置いて確認してください。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毎日の使い方編（記者が行う作業） STEP 1 / 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263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63640" y="384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使い方編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80467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①自分の会社Gmailを開く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73152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CBD2DC"/>
            </a:solidFill>
            <a:prstDash val="solid"/>
          </a:ln>
          <a:effectLst>
            <a:outerShdw sx="100000" sy="100000" kx="0" ky="0" algn="bl" rotWithShape="0" blurRad="127000" dist="44450" dir="5400000">
              <a:srgbClr val="13203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347472"/>
          </a:xfrm>
          <a:prstGeom prst="roundRect">
            <a:avLst>
              <a:gd name="adj" fmla="val 13158"/>
            </a:avLst>
          </a:prstGeom>
          <a:solidFill>
            <a:srgbClr val="EEF0F3"/>
          </a:solidFill>
          <a:ln w="15875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45920"/>
            <a:ext cx="7315200" cy="73152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1504188"/>
            <a:ext cx="82296" cy="82296"/>
          </a:xfrm>
          <a:prstGeom prst="ellipse">
            <a:avLst/>
          </a:prstGeom>
          <a:solidFill>
            <a:srgbClr val="E0897F"/>
          </a:solidFill>
          <a:ln/>
        </p:spPr>
      </p:sp>
      <p:sp>
        <p:nvSpPr>
          <p:cNvPr id="10" name="Shape 8"/>
          <p:cNvSpPr/>
          <p:nvPr/>
        </p:nvSpPr>
        <p:spPr>
          <a:xfrm>
            <a:off x="1216152" y="1504188"/>
            <a:ext cx="82296" cy="82296"/>
          </a:xfrm>
          <a:prstGeom prst="ellipse">
            <a:avLst/>
          </a:prstGeom>
          <a:solidFill>
            <a:srgbClr val="EFC077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504188"/>
            <a:ext cx="82296" cy="82296"/>
          </a:xfrm>
          <a:prstGeom prst="ellipse">
            <a:avLst/>
          </a:prstGeom>
          <a:solidFill>
            <a:srgbClr val="8DC79A"/>
          </a:solidFill>
          <a:ln/>
        </p:spPr>
      </p:sp>
      <p:sp>
        <p:nvSpPr>
          <p:cNvPr id="12" name="Shape 10"/>
          <p:cNvSpPr/>
          <p:nvPr/>
        </p:nvSpPr>
        <p:spPr>
          <a:xfrm>
            <a:off x="1508760" y="1426464"/>
            <a:ext cx="61264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9525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1426464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mail.google.com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Gmail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35240" y="1847088"/>
            <a:ext cx="384048" cy="384048"/>
          </a:xfrm>
          <a:prstGeom prst="ellipse">
            <a:avLst/>
          </a:prstGeom>
          <a:solidFill>
            <a:srgbClr val="B9CC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2359152"/>
            <a:ext cx="731520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3000" y="2496312"/>
            <a:ext cx="6858000" cy="274320"/>
          </a:xfrm>
          <a:prstGeom prst="roundRect">
            <a:avLst>
              <a:gd name="adj" fmla="val 16667"/>
            </a:avLst>
          </a:prstGeom>
          <a:solidFill>
            <a:srgbClr val="F5F6F8"/>
          </a:solidFill>
          <a:ln/>
        </p:spPr>
      </p:sp>
      <p:sp>
        <p:nvSpPr>
          <p:cNvPr id="19" name="Text 17"/>
          <p:cNvSpPr/>
          <p:nvPr/>
        </p:nvSpPr>
        <p:spPr>
          <a:xfrm>
            <a:off x="1325880" y="249631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（原稿の確認について）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43000" y="2880360"/>
            <a:ext cx="6858000" cy="274320"/>
          </a:xfrm>
          <a:prstGeom prst="roundRect">
            <a:avLst>
              <a:gd name="adj" fmla="val 16667"/>
            </a:avLst>
          </a:prstGeom>
          <a:solidFill>
            <a:srgbClr val="F5F6F8"/>
          </a:solidFill>
          <a:ln/>
        </p:spPr>
      </p:sp>
      <p:sp>
        <p:nvSpPr>
          <p:cNvPr id="21" name="Text 19"/>
          <p:cNvSpPr/>
          <p:nvPr/>
        </p:nvSpPr>
        <p:spPr>
          <a:xfrm>
            <a:off x="1325880" y="28803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（明日の取材予定）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43000" y="3264408"/>
            <a:ext cx="6858000" cy="274320"/>
          </a:xfrm>
          <a:prstGeom prst="roundRect">
            <a:avLst>
              <a:gd name="adj" fmla="val 16667"/>
            </a:avLst>
          </a:prstGeom>
          <a:solidFill>
            <a:srgbClr val="F5F6F8"/>
          </a:solidFill>
          <a:ln/>
        </p:spPr>
      </p:sp>
      <p:sp>
        <p:nvSpPr>
          <p:cNvPr id="23" name="Text 21"/>
          <p:cNvSpPr/>
          <p:nvPr/>
        </p:nvSpPr>
        <p:spPr>
          <a:xfrm>
            <a:off x="1325880" y="32644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（総務からのお知らせ）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375818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画面イメージ（実際の画面とは異なります）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914400" y="3977640"/>
            <a:ext cx="7315200" cy="457200"/>
          </a:xfrm>
          <a:prstGeom prst="roundRect">
            <a:avLst>
              <a:gd name="adj" fmla="val 16000"/>
            </a:avLst>
          </a:prstGeom>
          <a:solidFill>
            <a:srgbClr val="1C2E4A"/>
          </a:solidFill>
          <a:ln/>
          <a:effectLst>
            <a:outerShdw sx="100000" sy="100000" kx="0" ky="0" algn="bl" rotWithShape="0" blurRad="88900" dist="31750" dir="5400000">
              <a:srgbClr val="132038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51560" y="4073652"/>
            <a:ext cx="621792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51560" y="4073652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POINT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810512" y="397764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①いつも通り、自分の会社Gmailを開きます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毎日の使い方編（記者が行う作業） STEP 2 / 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263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63640" y="384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使い方編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80467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②右上のプロフィール画像を押す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73152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CBD2DC"/>
            </a:solidFill>
            <a:prstDash val="solid"/>
          </a:ln>
          <a:effectLst>
            <a:outerShdw sx="100000" sy="100000" kx="0" ky="0" algn="bl" rotWithShape="0" blurRad="127000" dist="44450" dir="5400000">
              <a:srgbClr val="13203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347472"/>
          </a:xfrm>
          <a:prstGeom prst="roundRect">
            <a:avLst>
              <a:gd name="adj" fmla="val 13158"/>
            </a:avLst>
          </a:prstGeom>
          <a:solidFill>
            <a:srgbClr val="EEF0F3"/>
          </a:solidFill>
          <a:ln w="15875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45920"/>
            <a:ext cx="7315200" cy="73152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1504188"/>
            <a:ext cx="82296" cy="82296"/>
          </a:xfrm>
          <a:prstGeom prst="ellipse">
            <a:avLst/>
          </a:prstGeom>
          <a:solidFill>
            <a:srgbClr val="E0897F"/>
          </a:solidFill>
          <a:ln/>
        </p:spPr>
      </p:sp>
      <p:sp>
        <p:nvSpPr>
          <p:cNvPr id="10" name="Shape 8"/>
          <p:cNvSpPr/>
          <p:nvPr/>
        </p:nvSpPr>
        <p:spPr>
          <a:xfrm>
            <a:off x="1216152" y="1504188"/>
            <a:ext cx="82296" cy="82296"/>
          </a:xfrm>
          <a:prstGeom prst="ellipse">
            <a:avLst/>
          </a:prstGeom>
          <a:solidFill>
            <a:srgbClr val="EFC077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504188"/>
            <a:ext cx="82296" cy="82296"/>
          </a:xfrm>
          <a:prstGeom prst="ellipse">
            <a:avLst/>
          </a:prstGeom>
          <a:solidFill>
            <a:srgbClr val="8DC79A"/>
          </a:solidFill>
          <a:ln/>
        </p:spPr>
      </p:sp>
      <p:sp>
        <p:nvSpPr>
          <p:cNvPr id="12" name="Shape 10"/>
          <p:cNvSpPr/>
          <p:nvPr/>
        </p:nvSpPr>
        <p:spPr>
          <a:xfrm>
            <a:off x="1508760" y="1426464"/>
            <a:ext cx="61264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9525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1426464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mail.google.com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Gmail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35240" y="1847088"/>
            <a:ext cx="384048" cy="384048"/>
          </a:xfrm>
          <a:prstGeom prst="ellipse">
            <a:avLst/>
          </a:prstGeom>
          <a:solidFill>
            <a:srgbClr val="B9CC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2359152"/>
            <a:ext cx="731520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3000" y="2496312"/>
            <a:ext cx="6858000" cy="274320"/>
          </a:xfrm>
          <a:prstGeom prst="roundRect">
            <a:avLst>
              <a:gd name="adj" fmla="val 16667"/>
            </a:avLst>
          </a:prstGeom>
          <a:solidFill>
            <a:srgbClr val="F5F6F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43000" y="2880360"/>
            <a:ext cx="6858000" cy="274320"/>
          </a:xfrm>
          <a:prstGeom prst="roundRect">
            <a:avLst>
              <a:gd name="adj" fmla="val 16667"/>
            </a:avLst>
          </a:prstGeom>
          <a:solidFill>
            <a:srgbClr val="F5F6F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000" y="3264408"/>
            <a:ext cx="6858000" cy="274320"/>
          </a:xfrm>
          <a:prstGeom prst="roundRect">
            <a:avLst>
              <a:gd name="adj" fmla="val 16667"/>
            </a:avLst>
          </a:prstGeom>
          <a:solidFill>
            <a:srgbClr val="F5F6F8"/>
          </a:solidFill>
          <a:ln/>
        </p:spPr>
      </p:sp>
      <p:sp>
        <p:nvSpPr>
          <p:cNvPr id="21" name="Shape 19"/>
          <p:cNvSpPr/>
          <p:nvPr/>
        </p:nvSpPr>
        <p:spPr>
          <a:xfrm>
            <a:off x="7543800" y="1755648"/>
            <a:ext cx="566928" cy="566928"/>
          </a:xfrm>
          <a:prstGeom prst="ellipse">
            <a:avLst>
              <a:gd name="adj" fmla="val 12903"/>
            </a:avLst>
          </a:prstGeom>
          <a:ln w="34925">
            <a:solidFill>
              <a:srgbClr val="A6480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375818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画面イメージ（実際の画面とは異なります）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14400" y="3977640"/>
            <a:ext cx="7315200" cy="457200"/>
          </a:xfrm>
          <a:prstGeom prst="roundRect">
            <a:avLst>
              <a:gd name="adj" fmla="val 16000"/>
            </a:avLst>
          </a:prstGeom>
          <a:solidFill>
            <a:srgbClr val="1C2E4A"/>
          </a:solidFill>
          <a:ln/>
          <a:effectLst>
            <a:outerShdw sx="100000" sy="100000" kx="0" ky="0" algn="bl" rotWithShape="0" blurRad="88900" dist="31750" dir="5400000">
              <a:srgbClr val="132038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51560" y="4073652"/>
            <a:ext cx="621792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4073652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POINT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810512" y="397764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②画面右上の、丸いプロフィール画像を押します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毎日の使い方編（記者が行う作業） STEP 3 / 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263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63640" y="384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使い方編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80467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③一覧から「社会部Gmail」を選ぶ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73152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CBD2DC"/>
            </a:solidFill>
            <a:prstDash val="solid"/>
          </a:ln>
          <a:effectLst>
            <a:outerShdw sx="100000" sy="100000" kx="0" ky="0" algn="bl" rotWithShape="0" blurRad="127000" dist="44450" dir="5400000">
              <a:srgbClr val="13203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347472"/>
          </a:xfrm>
          <a:prstGeom prst="roundRect">
            <a:avLst>
              <a:gd name="adj" fmla="val 13158"/>
            </a:avLst>
          </a:prstGeom>
          <a:solidFill>
            <a:srgbClr val="EEF0F3"/>
          </a:solidFill>
          <a:ln w="15875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45920"/>
            <a:ext cx="7315200" cy="73152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1504188"/>
            <a:ext cx="82296" cy="82296"/>
          </a:xfrm>
          <a:prstGeom prst="ellipse">
            <a:avLst/>
          </a:prstGeom>
          <a:solidFill>
            <a:srgbClr val="E0897F"/>
          </a:solidFill>
          <a:ln/>
        </p:spPr>
      </p:sp>
      <p:sp>
        <p:nvSpPr>
          <p:cNvPr id="10" name="Shape 8"/>
          <p:cNvSpPr/>
          <p:nvPr/>
        </p:nvSpPr>
        <p:spPr>
          <a:xfrm>
            <a:off x="1216152" y="1504188"/>
            <a:ext cx="82296" cy="82296"/>
          </a:xfrm>
          <a:prstGeom prst="ellipse">
            <a:avLst/>
          </a:prstGeom>
          <a:solidFill>
            <a:srgbClr val="EFC077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504188"/>
            <a:ext cx="82296" cy="82296"/>
          </a:xfrm>
          <a:prstGeom prst="ellipse">
            <a:avLst/>
          </a:prstGeom>
          <a:solidFill>
            <a:srgbClr val="8DC79A"/>
          </a:solidFill>
          <a:ln/>
        </p:spPr>
      </p:sp>
      <p:sp>
        <p:nvSpPr>
          <p:cNvPr id="12" name="Shape 10"/>
          <p:cNvSpPr/>
          <p:nvPr/>
        </p:nvSpPr>
        <p:spPr>
          <a:xfrm>
            <a:off x="1508760" y="1426464"/>
            <a:ext cx="61264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9525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1426464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mail.google.com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1810512"/>
            <a:ext cx="32918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5875">
            <a:solidFill>
              <a:srgbClr val="CBD2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1975104"/>
            <a:ext cx="365760" cy="365760"/>
          </a:xfrm>
          <a:prstGeom prst="ellipse">
            <a:avLst/>
          </a:prstGeom>
          <a:solidFill>
            <a:srgbClr val="B9CCE8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19751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記者本人のアカウント（現在ログイン中）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00600" y="2468880"/>
            <a:ext cx="301752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2560320"/>
            <a:ext cx="3108960" cy="420624"/>
          </a:xfrm>
          <a:prstGeom prst="roundRect">
            <a:avLst>
              <a:gd name="adj" fmla="val 10870"/>
            </a:avLst>
          </a:prstGeom>
          <a:solidFill>
            <a:srgbClr val="DCE7F5"/>
          </a:solidFill>
          <a:ln w="15875">
            <a:solidFill>
              <a:srgbClr val="1C2E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25603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3090672"/>
            <a:ext cx="301752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32278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CC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別のアカウントを追加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09160" y="2514600"/>
            <a:ext cx="3200400" cy="512064"/>
          </a:xfrm>
          <a:prstGeom prst="roundRect">
            <a:avLst>
              <a:gd name="adj" fmla="val 10714"/>
            </a:avLst>
          </a:prstGeom>
          <a:ln w="34925">
            <a:solidFill>
              <a:srgbClr val="A6480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75818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画面イメージ（実際の画面とは異なります）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914400" y="3977640"/>
            <a:ext cx="7315200" cy="457200"/>
          </a:xfrm>
          <a:prstGeom prst="roundRect">
            <a:avLst>
              <a:gd name="adj" fmla="val 16000"/>
            </a:avLst>
          </a:prstGeom>
          <a:solidFill>
            <a:srgbClr val="1C2E4A"/>
          </a:solidFill>
          <a:ln/>
          <a:effectLst>
            <a:outerShdw sx="100000" sy="100000" kx="0" ky="0" algn="bl" rotWithShape="0" blurRad="88900" dist="31750" dir="5400000">
              <a:srgbClr val="132038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51560" y="4073652"/>
            <a:ext cx="621792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51560" y="4073652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POINT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810512" y="397764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③一覧の中から「社会部Gmail」を選びます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毎日の使い方編（記者が行う作業） STEP 4 / 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263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  <a:effectLst>
            <a:outerShdw sx="100000" sy="100000" kx="0" ky="0" algn="bl" rotWithShape="0" blurRad="50800" dist="19050" dir="5400000">
              <a:srgbClr val="132038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63640" y="384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使い方編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80467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④社会部の受信箱が開く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73152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CBD2DC"/>
            </a:solidFill>
            <a:prstDash val="solid"/>
          </a:ln>
          <a:effectLst>
            <a:outerShdw sx="100000" sy="100000" kx="0" ky="0" algn="bl" rotWithShape="0" blurRad="127000" dist="44450" dir="5400000">
              <a:srgbClr val="13203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347472"/>
          </a:xfrm>
          <a:prstGeom prst="roundRect">
            <a:avLst>
              <a:gd name="adj" fmla="val 13158"/>
            </a:avLst>
          </a:prstGeom>
          <a:solidFill>
            <a:srgbClr val="EEF0F3"/>
          </a:solidFill>
          <a:ln w="15875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645920"/>
            <a:ext cx="7315200" cy="73152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1504188"/>
            <a:ext cx="82296" cy="82296"/>
          </a:xfrm>
          <a:prstGeom prst="ellipse">
            <a:avLst/>
          </a:prstGeom>
          <a:solidFill>
            <a:srgbClr val="E0897F"/>
          </a:solidFill>
          <a:ln/>
        </p:spPr>
      </p:sp>
      <p:sp>
        <p:nvSpPr>
          <p:cNvPr id="10" name="Shape 8"/>
          <p:cNvSpPr/>
          <p:nvPr/>
        </p:nvSpPr>
        <p:spPr>
          <a:xfrm>
            <a:off x="1216152" y="1504188"/>
            <a:ext cx="82296" cy="82296"/>
          </a:xfrm>
          <a:prstGeom prst="ellipse">
            <a:avLst/>
          </a:prstGeom>
          <a:solidFill>
            <a:srgbClr val="EFC077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504188"/>
            <a:ext cx="82296" cy="82296"/>
          </a:xfrm>
          <a:prstGeom prst="ellipse">
            <a:avLst/>
          </a:prstGeom>
          <a:solidFill>
            <a:srgbClr val="8DC79A"/>
          </a:solidFill>
          <a:ln/>
        </p:spPr>
      </p:sp>
      <p:sp>
        <p:nvSpPr>
          <p:cNvPr id="12" name="Shape 10"/>
          <p:cNvSpPr/>
          <p:nvPr/>
        </p:nvSpPr>
        <p:spPr>
          <a:xfrm>
            <a:off x="1508760" y="1426464"/>
            <a:ext cx="61264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9525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1426464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mail.google.com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" y="1856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26480" y="1874520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DCE7F5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87452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代理アクセス中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4400" y="2340864"/>
            <a:ext cx="7315200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3000" y="2496312"/>
            <a:ext cx="6858000" cy="457200"/>
          </a:xfrm>
          <a:prstGeom prst="roundRect">
            <a:avLst>
              <a:gd name="adj" fmla="val 10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25880" y="2496312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読者から：記事の内容について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143000" y="3017520"/>
            <a:ext cx="6858000" cy="274320"/>
          </a:xfrm>
          <a:prstGeom prst="roundRect">
            <a:avLst>
              <a:gd name="adj" fmla="val 16667"/>
            </a:avLst>
          </a:prstGeom>
          <a:solidFill>
            <a:srgbClr val="F5F6F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3000" y="3383280"/>
            <a:ext cx="6858000" cy="274320"/>
          </a:xfrm>
          <a:prstGeom prst="roundRect">
            <a:avLst>
              <a:gd name="adj" fmla="val 16667"/>
            </a:avLst>
          </a:prstGeom>
          <a:solidFill>
            <a:srgbClr val="F5F6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812280" y="2542032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1C2E4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2280" y="25420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返信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48272" y="2487168"/>
            <a:ext cx="1188720" cy="457200"/>
          </a:xfrm>
          <a:prstGeom prst="roundRect">
            <a:avLst>
              <a:gd name="adj" fmla="val 12000"/>
            </a:avLst>
          </a:prstGeom>
          <a:ln w="34925">
            <a:solidFill>
              <a:srgbClr val="A6480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375818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画面イメージ（実際の画面とは異なります）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14400" y="3977640"/>
            <a:ext cx="7315200" cy="457200"/>
          </a:xfrm>
          <a:prstGeom prst="roundRect">
            <a:avLst>
              <a:gd name="adj" fmla="val 16000"/>
            </a:avLst>
          </a:prstGeom>
          <a:solidFill>
            <a:srgbClr val="1C2E4A"/>
          </a:solidFill>
          <a:ln/>
          <a:effectLst>
            <a:outerShdw sx="100000" sy="100000" kx="0" ky="0" algn="bl" rotWithShape="0" blurRad="88900" dist="31750" dir="5400000">
              <a:srgbClr val="132038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51560" y="4073652"/>
            <a:ext cx="621792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51560" y="4073652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POINT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810512" y="397764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④受信箱が開きます。あとはいつも通り読む・返信するだけです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振り返り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3つの作業を振り返ると…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0060" y="164592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17220" y="181051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設定編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17220" y="2148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担当：管理担当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62940" y="25146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E7EEF8"/>
          </a:solidFill>
          <a:ln/>
        </p:spPr>
      </p:sp>
      <p:sp>
        <p:nvSpPr>
          <p:cNvPr id="8" name="Text 6"/>
          <p:cNvSpPr/>
          <p:nvPr/>
        </p:nvSpPr>
        <p:spPr>
          <a:xfrm>
            <a:off x="772668" y="2578608"/>
            <a:ext cx="192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パスワード入力：なし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（社会部Gmailに直接ログインするのは管理担当のみ）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14700" y="164592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51860" y="181051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承認編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51860" y="2148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担当：記者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97580" y="25146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E7EEF8"/>
          </a:solidFill>
          <a:ln/>
        </p:spPr>
      </p:sp>
      <p:sp>
        <p:nvSpPr>
          <p:cNvPr id="13" name="Text 11"/>
          <p:cNvSpPr/>
          <p:nvPr/>
        </p:nvSpPr>
        <p:spPr>
          <a:xfrm>
            <a:off x="3607308" y="2578608"/>
            <a:ext cx="192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パスワード入力：なし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（自分のメールで「確認」を押すだけ）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49340" y="1645920"/>
            <a:ext cx="2514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132038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86500" y="181051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使い方編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286500" y="2148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担当：記者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32220" y="25146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E7EEF8"/>
          </a:solidFill>
          <a:ln/>
        </p:spPr>
      </p:sp>
      <p:sp>
        <p:nvSpPr>
          <p:cNvPr id="18" name="Text 16"/>
          <p:cNvSpPr/>
          <p:nvPr/>
        </p:nvSpPr>
        <p:spPr>
          <a:xfrm>
            <a:off x="6441948" y="2578608"/>
            <a:ext cx="192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パスワード入力：なし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（自分のアカウントのまま切り替えるだけ）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379476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1C2E4A"/>
          </a:solidFill>
          <a:ln/>
          <a:effectLst>
            <a:outerShdw sx="100000" sy="100000" kx="0" ky="0" algn="bl" rotWithShape="0" blurRad="101600" dist="38100" dir="5400000">
              <a:srgbClr val="132038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3794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社会部共通パスワードを入力する場面は、どの手順にもありませんでした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07｜人事異動のとき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人事異動が、ぐっと簡単になります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従来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600200" y="16916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91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異動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017520" y="1920240"/>
            <a:ext cx="201168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18688" y="16916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4408" y="1691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パスワード変更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36008" y="1920240"/>
            <a:ext cx="201168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837176" y="16916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2896" y="1691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全員へ連絡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54496" y="1920240"/>
            <a:ext cx="201168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55664" y="16916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01384" y="1691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端末を再設定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2331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代理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アクセス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600200" y="23317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45920" y="23317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異動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17520" y="2560320"/>
            <a:ext cx="201168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218688" y="23317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4408" y="23317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利用権限を削除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36008" y="2560320"/>
            <a:ext cx="201168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837176" y="23317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82896" y="23317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新任者を追加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063240"/>
            <a:ext cx="8046720" cy="594360"/>
          </a:xfrm>
          <a:prstGeom prst="roundRect">
            <a:avLst>
              <a:gd name="adj" fmla="val 12308"/>
            </a:avLst>
          </a:prstGeom>
          <a:solidFill>
            <a:srgbClr val="1C2E4A"/>
          </a:solidFill>
          <a:ln/>
          <a:effectLst>
            <a:outerShdw sx="100000" sy="100000" kx="0" ky="0" algn="bl" rotWithShape="0" blurRad="101600" dist="38100" dir="5400000">
              <a:srgbClr val="132038">
                <a:alpha val="24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85800" y="30632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「パスワード」ではなく「人」を管理する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02920" y="384048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63500" dist="22225" dir="5400000">
              <a:srgbClr val="132038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5800" y="38404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補足（管理担当者向け）：社内の設定によっては、社会部のGoogleグループを代理人として登録し、所属者の管理をさらにまとめて行える場合があります。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08｜対象範囲の確認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これはGmail（メール）だけの仕組みです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103120" y="1508760"/>
            <a:ext cx="4937760" cy="457200"/>
          </a:xfrm>
          <a:prstGeom prst="roundRect">
            <a:avLst>
              <a:gd name="adj" fmla="val 12000"/>
            </a:avLst>
          </a:prstGeom>
          <a:solidFill>
            <a:srgbClr val="1C2E4A"/>
          </a:solidFill>
          <a:ln/>
          <a:effectLst>
            <a:outerShdw sx="100000" sy="100000" kx="0" ky="0" algn="bl" rotWithShape="0" blurRad="88900" dist="31750" dir="5400000">
              <a:srgbClr val="132038">
                <a:alpha val="2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103120" y="1508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 Google 環境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965960"/>
            <a:ext cx="0" cy="91440"/>
          </a:xfrm>
          <a:prstGeom prst="line">
            <a:avLst/>
          </a:prstGeom>
          <a:noFill/>
          <a:ln w="19050">
            <a:solidFill>
              <a:srgbClr val="B9C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0" y="2057400"/>
            <a:ext cx="1645920" cy="402336"/>
          </a:xfrm>
          <a:prstGeom prst="roundRect">
            <a:avLst>
              <a:gd name="adj" fmla="val 13636"/>
            </a:avLst>
          </a:prstGeom>
          <a:solidFill>
            <a:srgbClr val="DCE7F5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205740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Gmail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023360" y="2258568"/>
            <a:ext cx="365760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480560" y="20574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代理アクセスで利用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0" y="1965960"/>
            <a:ext cx="0" cy="603504"/>
          </a:xfrm>
          <a:prstGeom prst="line">
            <a:avLst/>
          </a:prstGeom>
          <a:noFill/>
          <a:ln w="19050">
            <a:solidFill>
              <a:srgbClr val="B9CC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77440" y="2569464"/>
            <a:ext cx="1645920" cy="402336"/>
          </a:xfrm>
          <a:prstGeom prst="roundRect">
            <a:avLst>
              <a:gd name="adj" fmla="val 13636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77440" y="256946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Drive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23360" y="2770632"/>
            <a:ext cx="365760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4480560" y="256946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共有ドライブを別に利用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0" y="1965960"/>
            <a:ext cx="0" cy="1115568"/>
          </a:xfrm>
          <a:prstGeom prst="line">
            <a:avLst/>
          </a:prstGeom>
          <a:noFill/>
          <a:ln w="19050">
            <a:solidFill>
              <a:srgbClr val="B9C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77440" y="3081528"/>
            <a:ext cx="1645920" cy="402336"/>
          </a:xfrm>
          <a:prstGeom prst="roundRect">
            <a:avLst>
              <a:gd name="adj" fmla="val 13636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77440" y="308152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Calendar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23360" y="3282696"/>
            <a:ext cx="365760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4480560" y="308152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共有カレンダーを別に利用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379476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C2E4A"/>
          </a:solidFill>
          <a:ln/>
          <a:effectLst>
            <a:outerShdw sx="100000" sy="100000" kx="0" ky="0" algn="bl" rotWithShape="0" blurRad="101600" dist="38100" dir="5400000">
              <a:srgbClr val="132038">
                <a:alpha val="2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5800" y="3794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代理アクセス＝Gmailのメールを利用するための仕組みです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「代理アクセスを設定すれば、社会部アカウントの全サービスに入れる」は誤解です。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200400"/>
            <a:ext cx="4389120" cy="4389120"/>
          </a:xfrm>
          <a:prstGeom prst="ellipse">
            <a:avLst/>
          </a:prstGeom>
          <a:ln w="15875">
            <a:solidFill>
              <a:srgbClr val="2A456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9CC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まとめ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覚えるのは3つだけ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223A5E"/>
          </a:solidFill>
          <a:ln/>
          <a:effectLst>
            <a:outerShdw sx="100000" sy="100000" kx="0" ky="0" algn="bl" rotWithShape="0" blurRad="76200" dist="25400" dir="5400000">
              <a:srgbClr val="132038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E7F5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34440" y="16916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社会部共通パスワードを、全員で共有しない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404872"/>
            <a:ext cx="502920" cy="502920"/>
          </a:xfrm>
          <a:prstGeom prst="ellipse">
            <a:avLst/>
          </a:prstGeom>
          <a:solidFill>
            <a:srgbClr val="223A5E"/>
          </a:solidFill>
          <a:ln/>
          <a:effectLst>
            <a:outerShdw sx="100000" sy="100000" kx="0" ky="0" algn="bl" rotWithShape="0" blurRad="76200" dist="25400" dir="5400000">
              <a:srgbClr val="132038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404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E7F5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34440" y="240487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自分の会社Googleアカウントから、社会部Gmailを開く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502920" cy="502920"/>
          </a:xfrm>
          <a:prstGeom prst="ellipse">
            <a:avLst/>
          </a:prstGeom>
          <a:solidFill>
            <a:srgbClr val="223A5E"/>
          </a:solidFill>
          <a:ln/>
          <a:effectLst>
            <a:outerShdw sx="100000" sy="100000" kx="0" ky="0" algn="bl" rotWithShape="0" blurRad="76200" dist="25400" dir="5400000">
              <a:srgbClr val="132038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1181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E7F5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34440" y="3118104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異動のときは、パスワードではなく利用権限を変更する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223A5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977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これが「Gmail代理アクセス」です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46634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AB8D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利用できない場合や、設定が表示されない場合は、社会部管理担当または情報システム担当へ。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2C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補足｜よくある質問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FAQ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63500" dist="22225" dir="5400000">
              <a:srgbClr val="13203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67512" y="1508760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Q. スマートフォンでも使える？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67512" y="1801368"/>
            <a:ext cx="3557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A. 代理人の追加はパソコンのみです。代理アカウントの閲覧・送信はスマホのGmailアプリでも順次利用できるようになっています（環境により異なる場合があります）。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63440" y="1417320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63500" dist="22225" dir="5400000">
              <a:srgbClr val="132038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28032" y="1508760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Q. 代理で送ったメールは、誰から送ったように見える？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828032" y="1801368"/>
            <a:ext cx="3557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A. 社内の設定により、代理人の名前も表示される場合と、社会部アカウントのみ表示される場合があります。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2496312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63500" dist="22225" dir="5400000">
              <a:srgbClr val="132038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" y="2587752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Q. 社会部Gmailが表示されない場合は？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7512" y="2880360"/>
            <a:ext cx="3557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A. 招待を承認したか確認し、時間を置いて再確認してください。解決しない場合は管理担当へ。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2496312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63500" dist="22225" dir="5400000">
              <a:srgbClr val="132038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28032" y="2587752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Q. Google Driveも代理アクセスで使える？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28032" y="2880360"/>
            <a:ext cx="3557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A. 使えません。代理アクセスはGmail専用です。Driveは共有ドライブを別に利用します。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575304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63500" dist="22225" dir="5400000">
              <a:srgbClr val="132038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" y="3666744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Q. 代理人は何人まで登録できる？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67512" y="3959352"/>
            <a:ext cx="3557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A. 職場アカウントでは最大1,000人まで登録できます（実務上の目安として、同時に使うのは数十人程度）。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3575304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63500" dist="22225" dir="5400000">
              <a:srgbClr val="132038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28032" y="3666744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Q. Googleグループをまとめて代理人にできる？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28032" y="3959352"/>
            <a:ext cx="3557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A. 社内の設定によっては可能です。可否や方法は情報システム担当に確認してください。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22 /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2026-08-08T09:33:37Z</dcterms:created>
  <dcterms:modified xsi:type="dcterms:W3CDTF">2026-08-08T09:33:37Z</dcterms:modified>
</cp:coreProperties>
</file>