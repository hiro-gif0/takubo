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、社会部Gmailの使い方が変わるお知らせです。これまで全員で共有していた共通パスワードをやめて、自分の会社Googleアカウントから社会部のメールを使う「代理アクセス」という方式に変わります。仕組みは難しくありません。今日はこの1点だけ持ち帰ってもらえれば十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までは、社会部Gmailに1つの共通パスワードがあり、部長から記者まで全員が同じログイン情報を使っていました。これ自体は長年の運用ですが、誰かがパスワードを変えると全員に影響しますし、異動のたびに管理が必要になります。危険だから今すぐ変えるという話ではなく、人数が増えるほど鍵の管理が大変になるという、単純だけれど大事な問題だと理解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一番大事なスライドです。「代理アクセス」という言葉だけ聞くと難しそうですが、意味は単純です。自分の会社Googleアカウントで、社会部のメールボックスを開けるようになる、というだけです。記者A、B、Cのように、それぞれ自分のアカウントから入っても、開く先は同じ社会部Gmailです。そして一番大事なのは、社会部Gmailの共通パスワードを、もう覚えなくていい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メージしやすいように、社員証で例えてみます。これまでは、社会部のメール室に入るための合鍵を全員がコピーして持っているようなものでした。これからは、それぞれが自分の社員証をかざすと、社会部メール室にだけ入れる権限が追加される、というイメージです。実際にはGoogleアカウントの利用権限の話で、物理的な社員証があるわけではありませんが、考え方としてはこれで十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理アクセスでできることは、普段のメール業務とほぼ同じです。読む、検索する、返信する、送る、削除する、整理する。これで十分仕事はできます。一方でできないこともあります。社会部アカウントのパスワード変更や、Googleアカウント全体の設定変更です。つまり、メール業務はできるけれど、社会部アカウントそのものの管理者になるわけではない、という点を覚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、実際の画面のイメージを見ながら、3つの場面を順番に説明します。1つ目は設定編で、管理担当が社会部Gmail側で利用者を登録する作業です。2つ目は承認編で、招待された記者がメールを確認して承認する作業です。3つ目は毎日の使い方編で、実際に自分のアカウントから社会部Gmailを開く操作です。それぞれ、誰がやる作業なのかを意識しながら見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設定編の1つ目です。管理担当が、社会部Gmailに自分でログインした状態で、画面右上にある歯車マークを押します。これが設定画面への入り口です。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設定画面が開いたら、上に並んでいるタブの中から「アカウントとインポート」を選びます。ここに、メールへのアクセス権を管理する項目があります。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別のアカウントを追加」を押すと、メールアドレスを入力する欄が出てきます。追加したい記者のメールアドレスを入力して、「次のステップへ」を押すと、相手に招待メールが送られます。この操作は管理担当だけが行うもので、一般部員が自分で行う必要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管理担当が登録を済ませると、招待された記者自身の受信箱に、社会部からの招待メールが届きます。件名には「メールの委任」に関する案内が入っています。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届いたメールを開いたら、まず送信元が社会部の管理担当（社会部Gmailのアドレス）であることを確認してください。見覚えのない相手からの場合は、絶対に先へ進まず、社会部の管理担当に確認しましょう。内容を確認したら、「アクセスを確認」ボタンを押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最後に確認ダイアログが出るので、内容に間違いなければ「確認」を押します。これで承認は完了です。承認してすぐに使えないこともあるので、少し時間を置いてから次の使い方編を試してみてください。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毎日の使い方編です。まずはいつも通り、自分の会社Googleアカウントで自分のGmailを開きます。特別な操作は何もありません。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画面右上にある、丸いプロフィール画像を押します。ここがアカウントを切り替える入り口になります。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ロフィール画像を押すと、切り替えられるアカウントの一覧が出てきます。この中から「社会部Gmail」を選びます。承認前はこの項目自体が出てこないので、その場合は招待の承認ができているか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社会部Gmailを選ぶと、新しいタブで社会部の受信箱が開きます。ここから先は、普段自分のGmailを使うのとまったく同じ感覚で、メールを読んだり返信したりできます。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設定編・承認編・使い方編の3つを振り返ると、どの場面でも社会部共通パスワードを入力する場面がなかったことが分かります。これが代理アクセスの一番のポイントです。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理アクセスに変えると、人事異動のときが特に楽になります。これまでは、異動のたびにパスワードを変更し、残る全員に新しいパスワードを連絡し、それぞれの端末で再設定してもらう必要がありました。これからは、異動した人の利用権限を削除して、新しく来た人を追加するだけです。パスワードを管理するのではなく、人を管理するという発想の変化だと考えてください。管理担当向けの補足ですが、社内の設定次第では、Googleグループを使ってさらにまとめて管理できる場合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最後に誤解しやすい点を確認します。代理アクセスは、あくまでGmail、つまりメールのための仕組みです。社会部のGoogle DriveやGoogle Calendarは、これとは別に、共有ドライブや共有カレンダーという仕組みを使います。「代理アクセスを設定すれば社会部アカウントの全部のサービスに入れる」というのは誤解なので、ここははっきり伝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覚えていただきたいのは、この3つだけです。1つ、社会部共通パスワードを全員で共有しない。2つ、自分の会社Googleアカウントから社会部Gmailを開く。3つ、異動のときはパスワードではなく利用権限を変更する。これが「Gmail代理アクセス」です。うまく表示されない、設定が見当たらないといった場合は、社会部管理担当か情報システム担当に確認してください。以上で説明を終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よくある質問をまとめています。スマートフォンでの利用、送信者表示、社会部Gmailが表示されないときの対処、Driveが使えるかどうか、登録できる人数、Googleグループの活用といった質問です。時間があればこのページも紹介し、なければ「巻末に質問集をまとめているので、あとで見てください」と案内する程度で十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CCE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社会部内 説明会資料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社会部Gmailの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使い方が変わります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E7F5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共通パスワードから「代理アクセス」へ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223A5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862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自分の会社Googleアカウントから、社会部のメールを利用する仕組みです。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6863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94B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確認日：2026年8月7日（出典：Gmail／Google Workspace 公式ヘルプ）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01｜これまでの方式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これまでは「1本の鍵を全員で共有」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14173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C2E4A"/>
          </a:solidFill>
          <a:ln/>
        </p:spPr>
      </p:sp>
      <p:sp>
        <p:nvSpPr>
          <p:cNvPr id="5" name="Text 3"/>
          <p:cNvSpPr/>
          <p:nvPr/>
        </p:nvSpPr>
        <p:spPr>
          <a:xfrm>
            <a:off x="283464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社会部Gmail（共通パスワード）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920240"/>
            <a:ext cx="0" cy="256032"/>
          </a:xfrm>
          <a:prstGeom prst="line">
            <a:avLst/>
          </a:prstGeom>
          <a:noFill/>
          <a:ln w="25400">
            <a:solidFill>
              <a:srgbClr val="B9CC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13816" y="22860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部長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0008" y="22860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次席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6200" y="22860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22392" y="22860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58584" y="22860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8529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全員が同じ「メールアドレス＋パスワード」でログインしています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118872" cy="118872"/>
          </a:xfrm>
          <a:prstGeom prst="ellipse">
            <a:avLst/>
          </a:prstGeom>
          <a:solidFill>
            <a:srgbClr val="A6480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46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誰かがパスワードを変更すると、全員に影響する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118872" cy="118872"/>
          </a:xfrm>
          <a:prstGeom prst="ellipse">
            <a:avLst/>
          </a:prstGeom>
          <a:solidFill>
            <a:srgbClr val="A6480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478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異動のたびに、パスワードの管理が必要になる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41064"/>
            <a:ext cx="118872" cy="118872"/>
          </a:xfrm>
          <a:prstGeom prst="ellipse">
            <a:avLst/>
          </a:prstGeom>
          <a:solidFill>
            <a:srgbClr val="A6480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8496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全員が同じログイン情報を使い続けることになる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42816"/>
            <a:ext cx="118872" cy="118872"/>
          </a:xfrm>
          <a:prstGeom prst="ellipse">
            <a:avLst/>
          </a:prstGeom>
          <a:solidFill>
            <a:srgbClr val="A6480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513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本人確認や、パスワードを忘れたときの対応も複雑になる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47594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怖い話ではありません。「人数が増えるほど、鍵の管理が大変になる」という単純な問題です。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02｜代理アクセスとは？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自分のアカウントで、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社会部の受信箱を開く仕組み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701491" cy="566928"/>
          </a:xfrm>
          <a:prstGeom prst="roundRect">
            <a:avLst>
              <a:gd name="adj" fmla="val 12903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5186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記者Aの会社アカウント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50131" y="2249424"/>
            <a:ext cx="320040" cy="0"/>
          </a:xfrm>
          <a:prstGeom prst="line">
            <a:avLst/>
          </a:prstGeom>
          <a:noFill/>
          <a:ln w="25400">
            <a:solidFill>
              <a:srgbClr val="B9C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19756"/>
            <a:ext cx="3701491" cy="566928"/>
          </a:xfrm>
          <a:prstGeom prst="roundRect">
            <a:avLst>
              <a:gd name="adj" fmla="val 12903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19756"/>
            <a:ext cx="35186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記者Bの会社アカウント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0131" y="2903220"/>
            <a:ext cx="320040" cy="0"/>
          </a:xfrm>
          <a:prstGeom prst="line">
            <a:avLst/>
          </a:prstGeom>
          <a:noFill/>
          <a:ln w="25400">
            <a:solidFill>
              <a:srgbClr val="B9C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73552"/>
            <a:ext cx="3701491" cy="566928"/>
          </a:xfrm>
          <a:prstGeom prst="roundRect">
            <a:avLst>
              <a:gd name="adj" fmla="val 12903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73552"/>
            <a:ext cx="35186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記者Cの会社アカウント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0131" y="3557016"/>
            <a:ext cx="320040" cy="0"/>
          </a:xfrm>
          <a:prstGeom prst="line">
            <a:avLst/>
          </a:prstGeom>
          <a:noFill/>
          <a:ln w="25400">
            <a:solidFill>
              <a:srgbClr val="B9C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0171" y="2249424"/>
            <a:ext cx="0" cy="1307592"/>
          </a:xfrm>
          <a:prstGeom prst="line">
            <a:avLst/>
          </a:prstGeom>
          <a:noFill/>
          <a:ln w="25400">
            <a:solidFill>
              <a:srgbClr val="B9C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0171" y="2903220"/>
            <a:ext cx="274320" cy="0"/>
          </a:xfrm>
          <a:prstGeom prst="line">
            <a:avLst/>
          </a:prstGeom>
          <a:noFill/>
          <a:ln w="31750">
            <a:solidFill>
              <a:srgbClr val="1C2E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4491" y="1965960"/>
            <a:ext cx="3750869" cy="1874520"/>
          </a:xfrm>
          <a:prstGeom prst="roundRect">
            <a:avLst>
              <a:gd name="adj" fmla="val 4878"/>
            </a:avLst>
          </a:prstGeom>
          <a:solidFill>
            <a:srgbClr val="1C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4981651" y="1965960"/>
            <a:ext cx="347654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9CCE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の受信箱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C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社会部Gmailの共通パスワードを、一般部員が知る必要はありません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47594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「代理アクセス」とは：自分の会社アカウントから、社会部のメールボックスを開く仕組みのことです。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03｜たとえて言うと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「社員証」で考えると簡単です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これまで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🔑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全員が同じ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マスターキーを持つ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69164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DCE7F5"/>
          </a:solidFill>
          <a:ln w="19050">
            <a:solidFill>
              <a:srgbClr val="1C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これから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💳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98348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それぞれ自分の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社員証を使う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2062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C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社員証に「社会部メール室に入れる」権限だけが追加されるイメージです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7594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※実際の仕組みはGoogleアカウントの利用権限です。物理的な社員証があるわけではありません。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04｜できること・できないこと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代理アクセスすると何ができる？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E7EE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できる（一般部員）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社会部宛てのメールを読む・検索する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7980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メールに返信する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3101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社会部Gmailからメールを送る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8221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メールを削除する・整理する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60020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できない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社会部アカウントのパスワード変更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28529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Googleアカウント全体の設定変更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34198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Gmail以外のサービスを自動的にすべて使うこと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C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72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メール業務はできる。でも、社会部アカウントそのものの管理者になるわけではない。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05｜ここから先の流れ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実際の画面で、3つの場面を見ていきます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80060" y="1783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984248"/>
            <a:ext cx="512064" cy="512064"/>
          </a:xfrm>
          <a:prstGeom prst="ellipse">
            <a:avLst/>
          </a:prstGeom>
          <a:solidFill>
            <a:srgbClr val="1C2E4A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150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設定編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2953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管理担当が行う作業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社会部Gmail側で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利用者を登録する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31236" y="2834640"/>
            <a:ext cx="246888" cy="0"/>
          </a:xfrm>
          <a:prstGeom prst="line">
            <a:avLst/>
          </a:prstGeom>
          <a:noFill/>
          <a:ln w="2540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14700" y="1783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984248"/>
            <a:ext cx="512064" cy="512064"/>
          </a:xfrm>
          <a:prstGeom prst="ellipse">
            <a:avLst/>
          </a:prstGeom>
          <a:solidFill>
            <a:srgbClr val="1C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614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承認編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6140" y="2953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記者が行う作業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186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届いた招待メールを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確認して承認する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65876" y="2834640"/>
            <a:ext cx="246888" cy="0"/>
          </a:xfrm>
          <a:prstGeom prst="line">
            <a:avLst/>
          </a:prstGeom>
          <a:noFill/>
          <a:ln w="2540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49340" y="1783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0608" y="1984248"/>
            <a:ext cx="512064" cy="512064"/>
          </a:xfrm>
          <a:prstGeom prst="ellipse">
            <a:avLst/>
          </a:prstGeom>
          <a:solidFill>
            <a:srgbClr val="1C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7150608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4078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毎日の使い方編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40780" y="2953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記者が行う作業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8650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自分のアカウントから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社会部Gmailを開く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16052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C2E4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画面のイメージ図を見ながら、1つずつ操作を確認していきます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設定編（管理担当が行う作業） STEP 1 /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 設定編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社会部Gmailの「設定」を開く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1856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Gmail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880" y="1901952"/>
            <a:ext cx="4297680" cy="310896"/>
          </a:xfrm>
          <a:prstGeom prst="roundRect">
            <a:avLst>
              <a:gd name="adj" fmla="val 50000"/>
            </a:avLst>
          </a:prstGeom>
          <a:solidFill>
            <a:srgbClr val="F1F2F5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901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メールを検索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951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⚙️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35240" y="1847088"/>
            <a:ext cx="384048" cy="384048"/>
          </a:xfrm>
          <a:prstGeom prst="ellipse">
            <a:avLst/>
          </a:prstGeom>
          <a:solidFill>
            <a:srgbClr val="B9CCE8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2359152"/>
            <a:ext cx="7315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2496312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2880360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3264408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0" y="1755648"/>
            <a:ext cx="566928" cy="566928"/>
          </a:xfrm>
          <a:prstGeom prst="ellipse">
            <a:avLst>
              <a:gd name="adj" fmla="val 12903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A6480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①ここ（歯車マーク）を押します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設定編（管理担当が行う作業） STEP 2 /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 設定編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「アカウントとインポート」タブを選ぶ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mail.google.com/settings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828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全般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1828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ラベル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0" y="1828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受信トレイ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0" y="1828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アカウントとインポート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0" y="1828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フィルタ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2176272"/>
            <a:ext cx="7315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2167128"/>
            <a:ext cx="1280160" cy="0"/>
          </a:xfrm>
          <a:prstGeom prst="line">
            <a:avLst/>
          </a:prstGeom>
          <a:noFill/>
          <a:ln w="31750">
            <a:solidFill>
              <a:srgbClr val="1C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4048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アカウントにアクセス権を与える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88720" y="27249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委任された人が、あなたに代わってメールを読んだり送信したりできるようになります。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30368" y="1792224"/>
            <a:ext cx="1609344" cy="384048"/>
          </a:xfrm>
          <a:prstGeom prst="roundRect">
            <a:avLst>
              <a:gd name="adj" fmla="val 11905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A6480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②「アカウントとインポート」のタブを選びます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設定編（管理担当が行う作業） STEP 3 /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 設定編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「別のアカウントを追加」から追加したい人を入力する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mail.google.com/settings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18562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アカウントにアクセス権を与える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217627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DCE7F5"/>
          </a:solidFill>
          <a:ln w="15875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176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＋ 別のアカウントを追加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88720" y="2706624"/>
            <a:ext cx="67665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追加するメールアドレス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2798064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7980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kisha-a@example.co.jp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9320" y="2798064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C2E4A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7980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次のステップへ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54680" y="2752344"/>
            <a:ext cx="4480560" cy="457200"/>
          </a:xfrm>
          <a:prstGeom prst="roundRect">
            <a:avLst>
              <a:gd name="adj" fmla="val 12000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A6480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③メールアドレスを入力し、「次のステップへ」で招待を送ります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47594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※画面内のメールアドレスは例です。実際は追加したい記者のメールアドレスを入力します。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承認編（記者が行う作業） STEP 1 /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 承認編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自分のGmailに、招待メールが届く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1856232"/>
            <a:ext cx="6949440" cy="512064"/>
          </a:xfrm>
          <a:prstGeom prst="roundRect">
            <a:avLst>
              <a:gd name="adj" fmla="val 8929"/>
            </a:avLst>
          </a:prstGeom>
          <a:solidFill>
            <a:srgbClr val="DCE7F5"/>
          </a:solidFill>
          <a:ln w="15875">
            <a:solidFill>
              <a:srgbClr val="1C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191109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社会部Gmail管理担当 &lt;shakaibu@example.co.jp&gt;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80160" y="213055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「メールの委任」の招待が届いています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" y="1810512"/>
            <a:ext cx="7040880" cy="603504"/>
          </a:xfrm>
          <a:prstGeom prst="roundRect">
            <a:avLst>
              <a:gd name="adj" fmla="val 9091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2441448"/>
            <a:ext cx="6949440" cy="512064"/>
          </a:xfrm>
          <a:prstGeom prst="roundRect">
            <a:avLst>
              <a:gd name="adj" fmla="val 8929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49631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BCC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（他のメール）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0" y="27157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BD3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（他のメール）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3026664"/>
            <a:ext cx="6949440" cy="512064"/>
          </a:xfrm>
          <a:prstGeom prst="roundRect">
            <a:avLst>
              <a:gd name="adj" fmla="val 8929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0815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BCC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（他のメール）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80160" y="33009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BD3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（他のメール）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A6480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①社会部からの招待メールを、受信箱の中から探します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承認編（記者が行う作業） STEP 2 /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 承認編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メールを開いて、送信元と内容を確認する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1828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件名：「メールの委任」の招待が届いています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88720" y="212140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From：社会部Gmail管理担当 &lt;shakaibu@example.co.jp&gt;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88720" y="2414016"/>
            <a:ext cx="67665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52374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shakaibu@example.co.jp さんが、自分の代わりにメールを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読んだり送信したりできる人として、あなたを追加しました。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88720" y="3136392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C2E4A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アクセスを確認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15568" y="3072384"/>
            <a:ext cx="1874520" cy="493776"/>
          </a:xfrm>
          <a:prstGeom prst="roundRect">
            <a:avLst>
              <a:gd name="adj" fmla="val 12963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A6480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②送信元が「shakaibu@example.co.jp」であることを確認します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承認編（記者が行う作業） STEP 3 /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 承認編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「確認」を押せば、承認は完了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1856232"/>
            <a:ext cx="6949440" cy="237744"/>
          </a:xfrm>
          <a:prstGeom prst="roundRect">
            <a:avLst>
              <a:gd name="adj" fmla="val 15385"/>
            </a:avLst>
          </a:prstGeom>
          <a:solidFill>
            <a:srgbClr val="F5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2176272"/>
            <a:ext cx="6949440" cy="237744"/>
          </a:xfrm>
          <a:prstGeom prst="roundRect">
            <a:avLst>
              <a:gd name="adj" fmla="val 15385"/>
            </a:avLst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2496312"/>
            <a:ext cx="6949440" cy="237744"/>
          </a:xfrm>
          <a:prstGeom prst="roundRect">
            <a:avLst>
              <a:gd name="adj" fmla="val 15385"/>
            </a:avLst>
          </a:prstGeom>
          <a:solidFill>
            <a:srgbClr val="F5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2039112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CBD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確認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97480" y="2478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shakaibu@example.co.jp からのメールへの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アクセスを許可しますか？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2953512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1F2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9535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キャンセル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2953512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1C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9535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確認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38928" y="2880360"/>
            <a:ext cx="1371600" cy="493776"/>
          </a:xfrm>
          <a:prstGeom prst="roundRect">
            <a:avLst>
              <a:gd name="adj" fmla="val 12963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29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14400" y="379476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A6480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" y="389077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389077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480E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10512" y="379476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③「確認」を押せば、承認は完了です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47594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反映まで時間がかかる場合があります。すぐに表示されなくても、時間を置いて確認してください。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毎日の使い方編（記者が行う作業） STEP 1 /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使い方編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①自分の会社Gmailを開く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1856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Gmail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1847088"/>
            <a:ext cx="384048" cy="384048"/>
          </a:xfrm>
          <a:prstGeom prst="ellipse">
            <a:avLst/>
          </a:prstGeom>
          <a:solidFill>
            <a:srgbClr val="B9CCE8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2359152"/>
            <a:ext cx="7315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2496312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249631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（原稿の確認について）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43000" y="2880360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28803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（明日の取材予定）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43000" y="3264408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32644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（総務からのお知らせ）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C2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①いつも通り、自分の会社Gmailを開きます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毎日の使い方編（記者が行う作業） STEP 2 /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使い方編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②右上のプロフィール画像を押す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1856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Gmail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1847088"/>
            <a:ext cx="384048" cy="384048"/>
          </a:xfrm>
          <a:prstGeom prst="ellipse">
            <a:avLst/>
          </a:prstGeom>
          <a:solidFill>
            <a:srgbClr val="B9CCE8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2359152"/>
            <a:ext cx="7315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2496312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2880360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3264408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543800" y="1755648"/>
            <a:ext cx="566928" cy="566928"/>
          </a:xfrm>
          <a:prstGeom prst="ellipse">
            <a:avLst>
              <a:gd name="adj" fmla="val 12903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C2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②画面右上の、丸いプロフィール画像を押します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毎日の使い方編（記者が行う作業） STEP 3 /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使い方編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③一覧から「社会部Gmail」を選ぶ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810512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975104"/>
            <a:ext cx="365760" cy="365760"/>
          </a:xfrm>
          <a:prstGeom prst="ellipse">
            <a:avLst/>
          </a:prstGeom>
          <a:solidFill>
            <a:srgbClr val="B9CCE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9751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記者本人のアカウント（現在ログイン中）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017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560320"/>
            <a:ext cx="3108960" cy="420624"/>
          </a:xfrm>
          <a:prstGeom prst="roundRect">
            <a:avLst>
              <a:gd name="adj" fmla="val 10870"/>
            </a:avLst>
          </a:prstGeom>
          <a:solidFill>
            <a:srgbClr val="DCE7F5"/>
          </a:solidFill>
          <a:ln w="15875">
            <a:solidFill>
              <a:srgbClr val="1C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60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090672"/>
            <a:ext cx="3017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6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別のアカウントを追加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514600"/>
            <a:ext cx="3200400" cy="512064"/>
          </a:xfrm>
          <a:prstGeom prst="roundRect">
            <a:avLst>
              <a:gd name="adj" fmla="val 10714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C2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③一覧の中から「社会部Gmail」を選びます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毎日の使い方編（記者が行う作業） STEP 4 /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2636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636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使い方編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④社会部の受信箱が開く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EEF0F3"/>
          </a:solidFill>
          <a:ln w="15875">
            <a:solidFill>
              <a:srgbClr val="CB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7315200" cy="73152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04188"/>
            <a:ext cx="82296" cy="82296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1504188"/>
            <a:ext cx="82296" cy="82296"/>
          </a:xfrm>
          <a:prstGeom prst="ellipse">
            <a:avLst/>
          </a:prstGeom>
          <a:solidFill>
            <a:srgbClr val="EFC0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4188"/>
            <a:ext cx="82296" cy="82296"/>
          </a:xfrm>
          <a:prstGeom prst="ellipse">
            <a:avLst/>
          </a:prstGeom>
          <a:solidFill>
            <a:srgbClr val="8D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426464"/>
            <a:ext cx="61264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4264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mail.google.com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社会部Gmail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DCE7F5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代理アクセス中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2340864"/>
            <a:ext cx="7315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2496312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DCE7F5"/>
          </a:solidFill>
          <a:ln w="12700">
            <a:solidFill>
              <a:srgbClr val="B9C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49631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読者から：記事の内容について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43000" y="3017520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3383280"/>
            <a:ext cx="6858000" cy="2743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812280" y="2542032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1C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5420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返信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2487168"/>
            <a:ext cx="1188720" cy="457200"/>
          </a:xfrm>
          <a:prstGeom prst="roundRect">
            <a:avLst>
              <a:gd name="adj" fmla="val 12000"/>
            </a:avLst>
          </a:prstGeom>
          <a:ln w="34925">
            <a:solidFill>
              <a:srgbClr val="A648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58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画面イメージ（実際の画面とは異なります）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C2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" y="4073652"/>
            <a:ext cx="621792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073652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POINT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10512" y="3977640"/>
            <a:ext cx="6236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④受信箱が開きます。あとはいつも通り読む・返信するだけです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振り返り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3つの作業を振り返ると…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6459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" y="18105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① 設定編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220" y="2148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担当：管理担当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2940" y="25146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" y="2578608"/>
            <a:ext cx="1929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パスワード入力：なし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（社会部Gmailに直接ログインするのは管理担当のみ）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4700" y="16459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1860" y="18105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② 承認編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51860" y="2148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担当：記者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97580" y="25146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/>
        </p:spPr>
      </p:sp>
      <p:sp>
        <p:nvSpPr>
          <p:cNvPr id="13" name="Text 11"/>
          <p:cNvSpPr/>
          <p:nvPr/>
        </p:nvSpPr>
        <p:spPr>
          <a:xfrm>
            <a:off x="3607308" y="2578608"/>
            <a:ext cx="1929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パスワード入力：なし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（自分のメールで「確認」を押すだけ）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49340" y="16459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6500" y="18105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③ 使い方編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86500" y="2148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担当：記者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32220" y="25146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41948" y="2578608"/>
            <a:ext cx="1929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パスワード入力：なし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（自分のアカウントのまま切り替えるだけ）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7947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C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社会部共通パスワードを入力する場面は、どの手順にもありませんでした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06｜人事異動のとき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人事異動が、ぐっと簡単になります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従来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00200" y="1691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691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異動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01168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18688" y="1691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691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パスワード変更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36008" y="1920240"/>
            <a:ext cx="201168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37176" y="1691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691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全員へ連絡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1920240"/>
            <a:ext cx="201168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55664" y="1691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1691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端末を再設定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代理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アクセス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00200" y="23317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異動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2560320"/>
            <a:ext cx="201168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18688" y="23317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利用権限を削除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36008" y="2560320"/>
            <a:ext cx="201168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37176" y="23317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新任者を追加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0632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C2E4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63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「パスワード」ではなく「人」を管理する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2920" y="38404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補足（管理担当者向け）：社内の設定によっては、社会部のGoogleグループを代理人として登録し、所属者の管理をさらにまとめて行える場合があります。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07｜対象範囲の確認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これはGmail（メール）だけの仕組みです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03120" y="150876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1C2E4A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 Google 環境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965960"/>
            <a:ext cx="0" cy="91440"/>
          </a:xfrm>
          <a:prstGeom prst="line">
            <a:avLst/>
          </a:prstGeom>
          <a:noFill/>
          <a:ln w="19050">
            <a:solidFill>
              <a:srgbClr val="B9C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2057400"/>
            <a:ext cx="1645920" cy="402336"/>
          </a:xfrm>
          <a:prstGeom prst="roundRect">
            <a:avLst>
              <a:gd name="adj" fmla="val 13636"/>
            </a:avLst>
          </a:prstGeom>
          <a:solidFill>
            <a:srgbClr val="DCE7F5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057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Gmail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2258568"/>
            <a:ext cx="365760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480560" y="20574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代理アクセスで利用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0" cy="603504"/>
          </a:xfrm>
          <a:prstGeom prst="line">
            <a:avLst/>
          </a:prstGeom>
          <a:noFill/>
          <a:ln w="19050">
            <a:solidFill>
              <a:srgbClr val="B9C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2569464"/>
            <a:ext cx="1645920" cy="402336"/>
          </a:xfrm>
          <a:prstGeom prst="roundRect">
            <a:avLst>
              <a:gd name="adj" fmla="val 13636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56946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Drive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2770632"/>
            <a:ext cx="365760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480560" y="25694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共有ドライブを別に利用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1965960"/>
            <a:ext cx="0" cy="1115568"/>
          </a:xfrm>
          <a:prstGeom prst="line">
            <a:avLst/>
          </a:prstGeom>
          <a:noFill/>
          <a:ln w="19050">
            <a:solidFill>
              <a:srgbClr val="B9C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081528"/>
            <a:ext cx="1645920" cy="402336"/>
          </a:xfrm>
          <a:prstGeom prst="roundRect">
            <a:avLst>
              <a:gd name="adj" fmla="val 13636"/>
            </a:avLst>
          </a:prstGeom>
          <a:solidFill>
            <a:srgbClr val="F2F3F5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3081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577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Calendar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3282696"/>
            <a:ext cx="365760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480560" y="30815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共有カレンダーを別に利用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79476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C2E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代理アクセス＝Gmailのメールを利用するための仕組みです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47594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「代理アクセスを設定すれば、社会部アカウントの全サービスに入れる」は誤解です。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CCE8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覚えるのは3つだけ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7F5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社会部共通パスワードを、全員で共有しない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502920" cy="50292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7F5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自分の会社Googleアカウントから、社会部Gmailを開く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502920" cy="50292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7F5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11810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異動のときは、パスワードではなく利用権限を変更する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23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これが「Gmail代理アクセス」です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8D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利用できない場合や、設定が表示されない場合は、社会部管理担当または情報システム担当へ。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C4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2E4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補足｜よくある質問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FAQ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88620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08760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Q. スマートフォンでも使える？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7512" y="1801368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A. 代理人の追加はパソコンのみです。代理アカウントの閲覧・送信はスマホのGmailアプリでも順次利用できるようになっています（環境により異なる場合があります）。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88620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508760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Q. 代理で送ったメールは、誰から送ったように見える？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28032" y="1801368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A. 社内の設定により、代理人の名前も表示される場合と、社会部アカウントのみ表示される場合があります。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496312"/>
            <a:ext cx="388620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587752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Q. 社会部Gmailが表示されない場合は？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" y="2880360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A. 招待を承認したか確認し、時間を置いて再確認してください。解決しない場合は管理担当へ。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96312"/>
            <a:ext cx="388620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587752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Q. Google Driveも代理アクセスで使える？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2880360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A. 使えません。代理アクセスはGmail専用です。Driveは共有ドライブを別に利用します。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388620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66744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Q. 代理人は何人まで登録できる？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" y="3959352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A. 職場アカウントでは最大1,000人まで登録できます（実務上の目安として、同時に使うのは数十人程度）。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575304"/>
            <a:ext cx="388620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666744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Q. Googleグループをまとめて代理人にできる？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3959352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A. 社内の設定によっては可能です。可否や方法は情報システム担当に確認してください。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PAGothic" pitchFamily="34" charset="0"/>
                <a:ea typeface="IPAGothic" pitchFamily="34" charset="-122"/>
                <a:cs typeface="IPAGothic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2026-08-08T09:15:20Z</dcterms:created>
  <dcterms:modified xsi:type="dcterms:W3CDTF">2026-08-08T09:15:20Z</dcterms:modified>
</cp:coreProperties>
</file>